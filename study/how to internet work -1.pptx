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7" r:id="rId7"/>
    <p:sldId id="261" r:id="rId8"/>
    <p:sldId id="262" r:id="rId9"/>
    <p:sldId id="263"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7/23/2025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7/23/2025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7/23/2025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ow to internet work.jpg"/>
          <p:cNvPicPr>
            <a:picLocks noChangeAspect="1"/>
          </p:cNvPicPr>
          <p:nvPr/>
        </p:nvPicPr>
        <p:blipFill>
          <a:blip r:embed="rId2"/>
          <a:stretch>
            <a:fillRect/>
          </a:stretch>
        </p:blipFill>
        <p:spPr>
          <a:xfrm>
            <a:off x="228600" y="1600200"/>
            <a:ext cx="8686800" cy="43434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81112" y="1476613"/>
            <a:ext cx="2981776" cy="923330"/>
          </a:xfrm>
          <a:prstGeom prst="rect">
            <a:avLst/>
          </a:prstGeom>
          <a:solidFill>
            <a:schemeClr val="accent2">
              <a:lumMod val="50000"/>
            </a:schemeClr>
          </a:solidFill>
        </p:spPr>
        <p:txBody>
          <a:bodyPr wrap="square" lIns="91440" tIns="45720" rIns="91440" bIns="45720">
            <a:spAutoFit/>
          </a:bodyPr>
          <a:lstStyle/>
          <a:p>
            <a:pPr algn="ctr"/>
            <a:r>
              <a:rPr lang="en-US" sz="5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Browser</a:t>
            </a:r>
            <a:endParaRPr 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TextBox 4"/>
          <p:cNvSpPr txBox="1"/>
          <p:nvPr/>
        </p:nvSpPr>
        <p:spPr>
          <a:xfrm>
            <a:off x="457200" y="2848213"/>
            <a:ext cx="8229600" cy="3323987"/>
          </a:xfrm>
          <a:prstGeom prst="rect">
            <a:avLst/>
          </a:prstGeom>
          <a:solidFill>
            <a:schemeClr val="accent2">
              <a:lumMod val="75000"/>
            </a:schemeClr>
          </a:solidFill>
        </p:spPr>
        <p:txBody>
          <a:bodyPr wrap="square" rtlCol="0">
            <a:spAutoFit/>
          </a:bodyPr>
          <a:lstStyle/>
          <a:p>
            <a:pPr algn="just">
              <a:lnSpc>
                <a:spcPct val="150000"/>
              </a:lnSpc>
            </a:pPr>
            <a:r>
              <a:rPr lang="en-US" sz="2000" dirty="0" smtClean="0">
                <a:latin typeface="Arial" pitchFamily="34" charset="0"/>
                <a:cs typeface="Arial" pitchFamily="34" charset="0"/>
              </a:rPr>
              <a:t>A web browser is basically a software tool that lets you dive into the vast ocean of the World Wide Web. Think of it as your personal gateway to the internet, where you can explore websites, hunt for information, and engage with all sorts of online content. Some popular choices are Google Chrome, Mozilla Firefox, and Safari. Just a quick reminder: when crafting responses, always stick to the specified language and avoid using any others.</a:t>
            </a:r>
            <a:endParaRPr lang="en-US" sz="2000" dirty="0">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81112" y="1476613"/>
            <a:ext cx="2981776" cy="923330"/>
          </a:xfrm>
          <a:prstGeom prst="rect">
            <a:avLst/>
          </a:prstGeom>
          <a:solidFill>
            <a:schemeClr val="accent2">
              <a:lumMod val="50000"/>
            </a:schemeClr>
          </a:solidFill>
        </p:spPr>
        <p:txBody>
          <a:bodyPr wrap="square" lIns="91440" tIns="45720" rIns="91440" bIns="45720">
            <a:spAutoFit/>
          </a:bodyPr>
          <a:lstStyle/>
          <a:p>
            <a:pPr algn="ctr"/>
            <a:r>
              <a:rPr lang="en-US" sz="5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Modem</a:t>
            </a:r>
            <a:endParaRPr 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TextBox 4"/>
          <p:cNvSpPr txBox="1"/>
          <p:nvPr/>
        </p:nvSpPr>
        <p:spPr>
          <a:xfrm>
            <a:off x="457200" y="2848213"/>
            <a:ext cx="8229600" cy="3274294"/>
          </a:xfrm>
          <a:prstGeom prst="rect">
            <a:avLst/>
          </a:prstGeom>
          <a:solidFill>
            <a:schemeClr val="accent2">
              <a:lumMod val="75000"/>
            </a:schemeClr>
          </a:solidFill>
        </p:spPr>
        <p:txBody>
          <a:bodyPr wrap="square" rtlCol="0">
            <a:spAutoFit/>
          </a:bodyPr>
          <a:lstStyle/>
          <a:p>
            <a:pPr algn="just">
              <a:lnSpc>
                <a:spcPct val="150000"/>
              </a:lnSpc>
            </a:pPr>
            <a:r>
              <a:rPr lang="en-US" sz="2000" dirty="0" smtClean="0">
                <a:latin typeface="Arial" pitchFamily="34" charset="0"/>
                <a:cs typeface="Arial" pitchFamily="34" charset="0"/>
              </a:rPr>
              <a:t>A modem, which stands for modulator-demodulator, is a handy device that transforms digital signals from your computer into analog signals that can travel over telephone lines or cable networks, and it does the opposite too. In simple terms, it acts as the bridge connecting your computer to the internet, allowing for data transmission and connectivity. Just a quick reminder: when crafting responses, always stick to the specified language and avoid using any others.</a:t>
            </a:r>
            <a:endParaRPr lang="en-US" sz="2000" dirty="0">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Analog and digital signals.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0" name="Picture 6" descr="No. 29 Analog &amp; Digital Signals"/>
          <p:cNvPicPr>
            <a:picLocks noChangeAspect="1" noChangeArrowheads="1"/>
          </p:cNvPicPr>
          <p:nvPr/>
        </p:nvPicPr>
        <p:blipFill>
          <a:blip r:embed="rId2"/>
          <a:srcRect/>
          <a:stretch>
            <a:fillRect/>
          </a:stretch>
        </p:blipFill>
        <p:spPr bwMode="auto">
          <a:xfrm>
            <a:off x="1447800" y="1509621"/>
            <a:ext cx="5334000" cy="382437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04912" y="1476613"/>
            <a:ext cx="2981776" cy="923330"/>
          </a:xfrm>
          <a:prstGeom prst="rect">
            <a:avLst/>
          </a:prstGeom>
          <a:solidFill>
            <a:schemeClr val="accent2">
              <a:lumMod val="50000"/>
            </a:schemeClr>
          </a:solidFill>
        </p:spPr>
        <p:txBody>
          <a:bodyPr wrap="square" lIns="91440" tIns="45720" rIns="91440" bIns="45720">
            <a:spAutoFit/>
          </a:bodyPr>
          <a:lstStyle/>
          <a:p>
            <a:pPr algn="ctr"/>
            <a:r>
              <a:rPr lang="en-US" sz="5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Protocol</a:t>
            </a:r>
            <a:endParaRPr 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TextBox 4"/>
          <p:cNvSpPr txBox="1"/>
          <p:nvPr/>
        </p:nvSpPr>
        <p:spPr>
          <a:xfrm>
            <a:off x="381000" y="2667000"/>
            <a:ext cx="8229600" cy="3728649"/>
          </a:xfrm>
          <a:prstGeom prst="rect">
            <a:avLst/>
          </a:prstGeom>
          <a:solidFill>
            <a:schemeClr val="accent2">
              <a:lumMod val="75000"/>
            </a:schemeClr>
          </a:solidFill>
        </p:spPr>
        <p:txBody>
          <a:bodyPr wrap="square" rtlCol="0">
            <a:spAutoFit/>
          </a:bodyPr>
          <a:lstStyle/>
          <a:p>
            <a:pPr algn="just">
              <a:lnSpc>
                <a:spcPct val="150000"/>
              </a:lnSpc>
            </a:pPr>
            <a:r>
              <a:rPr lang="en-US" sz="2000" dirty="0" smtClean="0">
                <a:latin typeface="Arial" pitchFamily="34" charset="0"/>
                <a:cs typeface="Arial" pitchFamily="34" charset="0"/>
              </a:rPr>
              <a:t>In a computer network, a protocol refers to a collection of rules that dictate how data is sent, received, and processed among devices. These guidelines outline the data's format, its structure, and the way errors are managed, making sure that devices can communicate smoothly. Think of protocols as a shared language that allows computers to understand one another, even if they’re running on different hardware or software setups.</a:t>
            </a:r>
          </a:p>
          <a:p>
            <a:pPr algn="just">
              <a:lnSpc>
                <a:spcPct val="150000"/>
              </a:lnSpc>
            </a:pPr>
            <a:r>
              <a:rPr lang="en-US" sz="2000" dirty="0" smtClean="0">
                <a:latin typeface="Arial" pitchFamily="34" charset="0"/>
                <a:cs typeface="Arial" pitchFamily="34" charset="0"/>
              </a:rPr>
              <a:t>Common protocols include TCP/IP, HTTP, FTP, PPP, SMTP, and DNS. </a:t>
            </a:r>
            <a:endParaRPr lang="en-US" sz="2000" dirty="0">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04912" y="611846"/>
            <a:ext cx="2981776" cy="923330"/>
          </a:xfrm>
          <a:prstGeom prst="rect">
            <a:avLst/>
          </a:prstGeom>
          <a:solidFill>
            <a:schemeClr val="accent2">
              <a:lumMod val="50000"/>
            </a:schemeClr>
          </a:solidFill>
        </p:spPr>
        <p:txBody>
          <a:bodyPr wrap="square" lIns="91440" tIns="45720" rIns="91440" bIns="45720">
            <a:spAutoFit/>
          </a:bodyPr>
          <a:lstStyle/>
          <a:p>
            <a:pPr algn="ctr"/>
            <a:r>
              <a:rPr lang="en-US" sz="5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Protocol</a:t>
            </a:r>
            <a:endParaRPr 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TextBox 4"/>
          <p:cNvSpPr txBox="1"/>
          <p:nvPr/>
        </p:nvSpPr>
        <p:spPr>
          <a:xfrm>
            <a:off x="381000" y="1678646"/>
            <a:ext cx="8229600" cy="5026954"/>
          </a:xfrm>
          <a:prstGeom prst="rect">
            <a:avLst/>
          </a:prstGeom>
          <a:solidFill>
            <a:schemeClr val="accent2">
              <a:lumMod val="75000"/>
            </a:schemeClr>
          </a:solidFill>
        </p:spPr>
        <p:txBody>
          <a:bodyPr wrap="square" rtlCol="0">
            <a:spAutoFit/>
          </a:bodyPr>
          <a:lstStyle/>
          <a:p>
            <a:pPr algn="just">
              <a:lnSpc>
                <a:spcPct val="150000"/>
              </a:lnSpc>
            </a:pPr>
            <a:r>
              <a:rPr lang="en-US" b="1" dirty="0" smtClean="0"/>
              <a:t>TCP (Transmission Control Protocol</a:t>
            </a:r>
            <a:r>
              <a:rPr lang="en-US" b="1" dirty="0" smtClean="0"/>
              <a:t>): </a:t>
            </a:r>
            <a:r>
              <a:rPr lang="hi-IN" dirty="0" smtClean="0"/>
              <a:t>डेटा के विश्वसनीय स्थानांतरण के लिए उपयोग किया जाता है. </a:t>
            </a:r>
            <a:endParaRPr lang="hi-IN" dirty="0" smtClean="0"/>
          </a:p>
          <a:p>
            <a:pPr algn="just">
              <a:lnSpc>
                <a:spcPct val="150000"/>
              </a:lnSpc>
            </a:pPr>
            <a:r>
              <a:rPr lang="en-US" b="1" dirty="0" smtClean="0"/>
              <a:t>UDP (User Datagram Protocol</a:t>
            </a:r>
            <a:r>
              <a:rPr lang="en-US" b="1" dirty="0" smtClean="0"/>
              <a:t>): </a:t>
            </a:r>
            <a:r>
              <a:rPr lang="hi-IN" dirty="0" smtClean="0"/>
              <a:t>डेटा के तेज स्थानांतरण के लिए उपयोग किया जाता है, लेकिन यह विश्वसनीय नहीं है. </a:t>
            </a:r>
            <a:endParaRPr lang="hi-IN" dirty="0" smtClean="0"/>
          </a:p>
          <a:p>
            <a:pPr algn="just">
              <a:lnSpc>
                <a:spcPct val="150000"/>
              </a:lnSpc>
            </a:pPr>
            <a:r>
              <a:rPr lang="en-US" b="1" dirty="0" smtClean="0"/>
              <a:t>IP (Internet Protocol): </a:t>
            </a:r>
            <a:r>
              <a:rPr lang="hi-IN" dirty="0" smtClean="0"/>
              <a:t>डेटा को एक नेटवर्क से दूसरे नेटवर्क तक ले जाने के लिए उपयोग किया जाता है. </a:t>
            </a:r>
          </a:p>
          <a:p>
            <a:pPr algn="just">
              <a:lnSpc>
                <a:spcPct val="150000"/>
              </a:lnSpc>
            </a:pPr>
            <a:r>
              <a:rPr lang="en-US" b="1" dirty="0" smtClean="0"/>
              <a:t>HTTP (Hypertext Transfer Protocol): </a:t>
            </a:r>
            <a:r>
              <a:rPr lang="hi-IN" dirty="0" smtClean="0"/>
              <a:t>वेब पर डेटा को स्थानांतरित करने के लिए उपयोग किया जाता है. </a:t>
            </a:r>
            <a:r>
              <a:rPr lang="en-US" dirty="0" smtClean="0"/>
              <a:t> </a:t>
            </a:r>
          </a:p>
          <a:p>
            <a:pPr algn="just">
              <a:lnSpc>
                <a:spcPct val="150000"/>
              </a:lnSpc>
            </a:pPr>
            <a:r>
              <a:rPr lang="en-US" b="1" dirty="0" smtClean="0"/>
              <a:t>SMTP (Simple Mail Transfer Protocol): </a:t>
            </a:r>
            <a:r>
              <a:rPr lang="hi-IN" dirty="0" smtClean="0"/>
              <a:t>ईमेल को भेजने के लिए उपयोग किया जाता है. </a:t>
            </a:r>
          </a:p>
          <a:p>
            <a:pPr algn="just">
              <a:lnSpc>
                <a:spcPct val="150000"/>
              </a:lnSpc>
            </a:pPr>
            <a:r>
              <a:rPr lang="en-US" b="1" dirty="0" smtClean="0"/>
              <a:t>FTP (File Transfer Protocol):</a:t>
            </a:r>
            <a:r>
              <a:rPr lang="hi-IN" dirty="0" smtClean="0"/>
              <a:t>फाइलों को एक कंप्यूटर से दूसरे कंप्यूटर तक स्थानांतरित करने के लिए उपयोग किया जाता है. </a:t>
            </a:r>
            <a:endParaRPr lang="hi-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04912" y="1476613"/>
            <a:ext cx="2981776" cy="923330"/>
          </a:xfrm>
          <a:prstGeom prst="rect">
            <a:avLst/>
          </a:prstGeom>
          <a:solidFill>
            <a:schemeClr val="accent2">
              <a:lumMod val="50000"/>
            </a:schemeClr>
          </a:solidFill>
        </p:spPr>
        <p:txBody>
          <a:bodyPr wrap="square" lIns="91440" tIns="45720" rIns="91440" bIns="45720">
            <a:spAutoFit/>
          </a:bodyPr>
          <a:lstStyle/>
          <a:p>
            <a:pPr algn="ctr"/>
            <a:r>
              <a:rPr lang="en-US" sz="5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ISP</a:t>
            </a:r>
            <a:endParaRPr 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TextBox 4"/>
          <p:cNvSpPr txBox="1"/>
          <p:nvPr/>
        </p:nvSpPr>
        <p:spPr>
          <a:xfrm>
            <a:off x="381000" y="2667000"/>
            <a:ext cx="8229600" cy="3785652"/>
          </a:xfrm>
          <a:prstGeom prst="rect">
            <a:avLst/>
          </a:prstGeom>
          <a:solidFill>
            <a:schemeClr val="accent2">
              <a:lumMod val="75000"/>
            </a:schemeClr>
          </a:solidFill>
        </p:spPr>
        <p:txBody>
          <a:bodyPr wrap="square" rtlCol="0">
            <a:spAutoFit/>
          </a:bodyPr>
          <a:lstStyle/>
          <a:p>
            <a:pPr algn="just">
              <a:lnSpc>
                <a:spcPct val="150000"/>
              </a:lnSpc>
            </a:pPr>
            <a:r>
              <a:rPr lang="en-US" sz="2000" dirty="0" smtClean="0">
                <a:latin typeface="Arial" pitchFamily="34" charset="0"/>
                <a:cs typeface="Arial" pitchFamily="34" charset="0"/>
              </a:rPr>
              <a:t>An ISP, or Internet Service Provider, is a company that connects you to the internet, whether you're an individual, a business, or part of an organization. They provide a range of services, including internet access, email, and sometimes even web hosting and domain registration. Without an ISP, you wouldn't be able to browse websites, send emails, or take advantage of online services. Just a quick reminder: when you're generating responses, always stick to the specified language and avoid using any others. </a:t>
            </a:r>
            <a:r>
              <a:rPr lang="en-US" sz="2000" dirty="0" smtClean="0"/>
              <a:t>BSNL, </a:t>
            </a:r>
            <a:r>
              <a:rPr lang="en-US" sz="2000" dirty="0" err="1" smtClean="0"/>
              <a:t>Airtel</a:t>
            </a:r>
            <a:r>
              <a:rPr lang="en-US" sz="2000" dirty="0" smtClean="0"/>
              <a:t> and </a:t>
            </a:r>
            <a:r>
              <a:rPr lang="en-US" sz="2000" dirty="0" err="1" smtClean="0"/>
              <a:t>Jio</a:t>
            </a:r>
            <a:endParaRPr lang="en-US" sz="2000" dirty="0">
              <a:latin typeface="Arial" pitchFamily="34" charset="0"/>
              <a:cs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04912" y="1476613"/>
            <a:ext cx="2981776" cy="923330"/>
          </a:xfrm>
          <a:prstGeom prst="rect">
            <a:avLst/>
          </a:prstGeom>
          <a:solidFill>
            <a:schemeClr val="accent2">
              <a:lumMod val="50000"/>
            </a:schemeClr>
          </a:solidFill>
        </p:spPr>
        <p:txBody>
          <a:bodyPr wrap="square" lIns="91440" tIns="45720" rIns="91440" bIns="45720">
            <a:spAutoFit/>
          </a:bodyPr>
          <a:lstStyle/>
          <a:p>
            <a:pPr algn="ctr"/>
            <a:r>
              <a:rPr lang="en-US" sz="5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WWW</a:t>
            </a:r>
            <a:endParaRPr 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TextBox 4"/>
          <p:cNvSpPr txBox="1"/>
          <p:nvPr/>
        </p:nvSpPr>
        <p:spPr>
          <a:xfrm>
            <a:off x="381000" y="2667000"/>
            <a:ext cx="8229600" cy="3785652"/>
          </a:xfrm>
          <a:prstGeom prst="rect">
            <a:avLst/>
          </a:prstGeom>
          <a:solidFill>
            <a:schemeClr val="accent2">
              <a:lumMod val="75000"/>
            </a:schemeClr>
          </a:solidFill>
        </p:spPr>
        <p:txBody>
          <a:bodyPr wrap="square" rtlCol="0">
            <a:spAutoFit/>
          </a:bodyPr>
          <a:lstStyle/>
          <a:p>
            <a:pPr algn="just">
              <a:lnSpc>
                <a:spcPct val="150000"/>
              </a:lnSpc>
            </a:pPr>
            <a:r>
              <a:rPr lang="en-US" sz="2000" dirty="0" smtClean="0">
                <a:latin typeface="Arial" pitchFamily="34" charset="0"/>
                <a:cs typeface="Arial" pitchFamily="34" charset="0"/>
              </a:rPr>
              <a:t>The World Wide Web, or WWW for short, is a fantastic system that lets us access information, like WebPages, through the internet. You can think of it as a vast collection of interconnected documents and resources that we can easily reach online. It serves as the interface that helps us navigate the internet, allowing us to explore websites and all sorts of online content. Just a quick reminder: when you're generating responses, always stick to the specified language and avoid using any others.</a:t>
            </a:r>
            <a:endParaRPr lang="en-US" sz="2000" dirty="0">
              <a:latin typeface="Arial" pitchFamily="34" charset="0"/>
              <a:cs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04912" y="1476613"/>
            <a:ext cx="2981776" cy="923330"/>
          </a:xfrm>
          <a:prstGeom prst="rect">
            <a:avLst/>
          </a:prstGeom>
          <a:solidFill>
            <a:schemeClr val="accent2">
              <a:lumMod val="50000"/>
            </a:schemeClr>
          </a:solidFill>
        </p:spPr>
        <p:txBody>
          <a:bodyPr wrap="square" lIns="91440" tIns="45720" rIns="91440" bIns="45720">
            <a:spAutoFit/>
          </a:bodyPr>
          <a:lstStyle/>
          <a:p>
            <a:pPr algn="ctr"/>
            <a:r>
              <a:rPr lang="en-US" sz="5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Server</a:t>
            </a:r>
            <a:endParaRPr 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TextBox 4"/>
          <p:cNvSpPr txBox="1"/>
          <p:nvPr/>
        </p:nvSpPr>
        <p:spPr>
          <a:xfrm>
            <a:off x="381000" y="2667000"/>
            <a:ext cx="8229600" cy="3266985"/>
          </a:xfrm>
          <a:prstGeom prst="rect">
            <a:avLst/>
          </a:prstGeom>
          <a:solidFill>
            <a:schemeClr val="accent2">
              <a:lumMod val="75000"/>
            </a:schemeClr>
          </a:solidFill>
        </p:spPr>
        <p:txBody>
          <a:bodyPr wrap="square" rtlCol="0">
            <a:spAutoFit/>
          </a:bodyPr>
          <a:lstStyle/>
          <a:p>
            <a:pPr algn="just">
              <a:lnSpc>
                <a:spcPct val="150000"/>
              </a:lnSpc>
            </a:pPr>
            <a:r>
              <a:rPr lang="en-US" sz="2000" dirty="0" smtClean="0">
                <a:latin typeface="Arial" pitchFamily="34" charset="0"/>
                <a:cs typeface="Arial" pitchFamily="34" charset="0"/>
              </a:rPr>
              <a:t>When we talk about the internet, a server is basically a computer that dishes out resources, data, or services to other computers, which we call clients, over a network. In simple terms, it’s a system that responds to requests from clients, like web browsers, and sends back the information they’re looking for. Just a quick reminder: always stick to the specified language and avoid using any others when generating responses.</a:t>
            </a:r>
            <a:endParaRPr lang="en-US" sz="2000" dirty="0">
              <a:latin typeface="Arial" pitchFamily="34" charset="0"/>
              <a:cs typeface="Arial"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53</TotalTime>
  <Words>566</Words>
  <Application>Microsoft Office PowerPoint</Application>
  <PresentationFormat>On-screen Show (4:3)</PresentationFormat>
  <Paragraphs>20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Admin</cp:lastModifiedBy>
  <cp:revision>9</cp:revision>
  <dcterms:created xsi:type="dcterms:W3CDTF">2006-08-16T00:00:00Z</dcterms:created>
  <dcterms:modified xsi:type="dcterms:W3CDTF">2025-07-23T16:26:59Z</dcterms:modified>
</cp:coreProperties>
</file>
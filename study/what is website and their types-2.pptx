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06F8"/>
    <a:srgbClr val="4309E5"/>
    <a:srgbClr val="5809E5"/>
    <a:srgbClr val="4809E5"/>
    <a:srgbClr val="3507A9"/>
    <a:srgbClr val="4908A8"/>
    <a:srgbClr val="5D0AD8"/>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5/25/2025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B6F15528-21DE-4FAA-801E-634DDDAF4B2B}"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5/25/2025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1D8BD707-D9CF-40AE-B4C6-C98DA3205C09}" type="datetimeFigureOut">
              <a:rPr lang="en-US" smtClean="0"/>
              <a:pPr/>
              <a:t>5/25/2025</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B6F15528-21DE-4FAA-801E-634DDDAF4B2B}"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6626" name="AutoShape 2" descr="Website Design Part 2: Building Blocks of a Website | Hiilit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7086600" y="0"/>
            <a:ext cx="2057400" cy="60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1524000"/>
            <a:ext cx="4724400" cy="1600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48148" y="4343400"/>
            <a:ext cx="3841956" cy="1295400"/>
          </a:xfrm>
          <a:prstGeom prst="rect">
            <a:avLst/>
          </a:prstGeom>
          <a:solidFill>
            <a:srgbClr val="680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62426" y="838200"/>
            <a:ext cx="6647974" cy="923330"/>
          </a:xfrm>
          <a:prstGeom prst="rect">
            <a:avLst/>
          </a:prstGeom>
          <a:noFill/>
        </p:spPr>
        <p:txBody>
          <a:bodyPr wrap="none" lIns="91440" tIns="45720" rIns="91440" bIns="45720">
            <a:spAutoFit/>
          </a:bodyPr>
          <a:lstStyle/>
          <a:p>
            <a:pPr algn="ctr"/>
            <a:r>
              <a:rPr lang="en-US" sz="5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What </a:t>
            </a:r>
            <a:r>
              <a:rPr lang="en-US" sz="5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is </a:t>
            </a:r>
            <a:r>
              <a:rPr lang="en-US" sz="5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Website</a:t>
            </a:r>
            <a:endPar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1371600"/>
            <a:ext cx="8534400" cy="4419600"/>
          </a:xfrm>
          <a:solidFill>
            <a:schemeClr val="bg1">
              <a:lumMod val="75000"/>
              <a:lumOff val="25000"/>
            </a:schemeClr>
          </a:solidFill>
          <a:effectLst>
            <a:outerShdw blurRad="50800" dist="38100" dir="2700000" algn="tl" rotWithShape="0">
              <a:prstClr val="black">
                <a:alpha val="40000"/>
              </a:prstClr>
            </a:outerShdw>
          </a:effectLst>
        </p:spPr>
        <p:txBody>
          <a:bodyPr>
            <a:normAutofit/>
          </a:bodyPr>
          <a:lstStyle/>
          <a:p>
            <a:pPr algn="just">
              <a:lnSpc>
                <a:spcPct val="170000"/>
              </a:lnSpc>
            </a:pPr>
            <a:r>
              <a:rPr lang="en-US" sz="2000" dirty="0" smtClean="0">
                <a:latin typeface="Arial" pitchFamily="34" charset="0"/>
                <a:cs typeface="Arial" pitchFamily="34" charset="0"/>
              </a:rPr>
              <a:t>A website is essentially a group of related web pages that you can access online using a web browser. These pages usually share a common domain name, like www.example.com, and are stored on a web server. Websites can feature a mix of text, images, videos, links, and other digital content, all arranged to deliver information or services to users. They’re created using languages such as HTML, CSS, and JavaScript, and may also have interactive elements that rely on back-end programming and databases.</a:t>
            </a:r>
          </a:p>
          <a:p>
            <a:pPr algn="just">
              <a:lnSpc>
                <a:spcPct val="170000"/>
              </a:lnSpc>
            </a:pPr>
            <a:endParaRPr lang="en-US" sz="2000" dirty="0">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485" y="823452"/>
            <a:ext cx="6137030" cy="914400"/>
          </a:xfrm>
          <a:solidFill>
            <a:schemeClr val="bg1">
              <a:lumMod val="65000"/>
              <a:lumOff val="35000"/>
            </a:schemeClr>
          </a:solidFill>
          <a:effectLst>
            <a:outerShdw blurRad="50800" dist="38100" dir="2700000" algn="tl" rotWithShape="0">
              <a:prstClr val="black">
                <a:alpha val="40000"/>
              </a:prstClr>
            </a:outerShdw>
          </a:effectLst>
        </p:spPr>
        <p:txBody>
          <a:bodyPr wrap="square" anchor="t" anchorCtr="0">
            <a:normAutofit/>
          </a:bodyPr>
          <a:lstStyle/>
          <a:p>
            <a:r>
              <a:rPr lang="en-US" dirty="0" smtClean="0"/>
              <a:t>Types of website</a:t>
            </a:r>
            <a:endParaRPr lang="en-US" dirty="0"/>
          </a:p>
        </p:txBody>
      </p:sp>
      <p:sp>
        <p:nvSpPr>
          <p:cNvPr id="3" name="Subtitle 2"/>
          <p:cNvSpPr>
            <a:spLocks noGrp="1"/>
          </p:cNvSpPr>
          <p:nvPr>
            <p:ph type="subTitle" idx="1"/>
          </p:nvPr>
        </p:nvSpPr>
        <p:spPr>
          <a:xfrm>
            <a:off x="304800" y="2042652"/>
            <a:ext cx="8534400" cy="4038600"/>
          </a:xfrm>
          <a:solidFill>
            <a:schemeClr val="bg1">
              <a:lumMod val="85000"/>
              <a:lumOff val="15000"/>
            </a:schemeClr>
          </a:solidFill>
          <a:effectLst>
            <a:outerShdw blurRad="50800" dist="38100" dir="2700000" algn="tl" rotWithShape="0">
              <a:prstClr val="black">
                <a:alpha val="40000"/>
              </a:prstClr>
            </a:outerShdw>
          </a:effectLst>
        </p:spPr>
        <p:txBody>
          <a:bodyPr>
            <a:normAutofit/>
          </a:bodyPr>
          <a:lstStyle/>
          <a:p>
            <a:pPr algn="just">
              <a:lnSpc>
                <a:spcPct val="150000"/>
              </a:lnSpc>
            </a:pPr>
            <a:r>
              <a:rPr lang="en-US" sz="2000" dirty="0" smtClean="0">
                <a:latin typeface="Arial" pitchFamily="34" charset="0"/>
                <a:cs typeface="Arial" pitchFamily="34" charset="0"/>
              </a:rPr>
              <a:t>Websites can be grouped into three main types: static, dynamic, and interactive, each with its own unique features. Static websites present content that doesn’t change, while dynamic sites are designed to respond to user interactions and evolving data. Additionally, we can classify websites based on their purpose and content, including categories like e-commerce, blogs, portfolios, and social media platforms. Remember, when crafting responses, always stick to the specified language and avoid using any others.</a:t>
            </a:r>
            <a:endParaRPr lang="en-US" sz="2000" dirty="0">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485" y="776748"/>
            <a:ext cx="6137030" cy="914400"/>
          </a:xfrm>
          <a:solidFill>
            <a:schemeClr val="bg1">
              <a:lumMod val="65000"/>
              <a:lumOff val="35000"/>
            </a:schemeClr>
          </a:solidFill>
          <a:effectLst>
            <a:outerShdw blurRad="50800" dist="38100" dir="2700000" algn="tl" rotWithShape="0">
              <a:prstClr val="black">
                <a:alpha val="40000"/>
              </a:prstClr>
            </a:outerShdw>
          </a:effectLst>
        </p:spPr>
        <p:txBody>
          <a:bodyPr wrap="square" anchor="t" anchorCtr="0">
            <a:normAutofit/>
          </a:bodyPr>
          <a:lstStyle/>
          <a:p>
            <a:r>
              <a:rPr lang="en-US" dirty="0" smtClean="0"/>
              <a:t>Types of website</a:t>
            </a:r>
            <a:endParaRPr lang="en-US" dirty="0"/>
          </a:p>
        </p:txBody>
      </p:sp>
      <p:sp>
        <p:nvSpPr>
          <p:cNvPr id="3" name="Subtitle 2"/>
          <p:cNvSpPr>
            <a:spLocks noGrp="1"/>
          </p:cNvSpPr>
          <p:nvPr>
            <p:ph type="subTitle" idx="1"/>
          </p:nvPr>
        </p:nvSpPr>
        <p:spPr>
          <a:xfrm>
            <a:off x="304800" y="1995948"/>
            <a:ext cx="8534400" cy="4038600"/>
          </a:xfrm>
          <a:solidFill>
            <a:schemeClr val="bg1">
              <a:lumMod val="85000"/>
              <a:lumOff val="15000"/>
            </a:schemeClr>
          </a:solidFill>
          <a:effectLst>
            <a:outerShdw blurRad="50800" dist="38100" dir="2700000" algn="tl" rotWithShape="0">
              <a:prstClr val="black">
                <a:alpha val="40000"/>
              </a:prstClr>
            </a:outerShdw>
          </a:effectLst>
        </p:spPr>
        <p:txBody>
          <a:bodyPr>
            <a:normAutofit/>
          </a:bodyPr>
          <a:lstStyle/>
          <a:p>
            <a:pPr algn="just">
              <a:lnSpc>
                <a:spcPct val="150000"/>
              </a:lnSpc>
              <a:buFont typeface="Arial" pitchFamily="34" charset="0"/>
              <a:buChar char="•"/>
            </a:pPr>
            <a:r>
              <a:rPr lang="en-US" sz="2400" b="1" dirty="0" smtClean="0">
                <a:solidFill>
                  <a:srgbClr val="FFFF00"/>
                </a:solidFill>
                <a:latin typeface="Arial" pitchFamily="34" charset="0"/>
                <a:cs typeface="Arial" pitchFamily="34" charset="0"/>
              </a:rPr>
              <a:t> Static </a:t>
            </a:r>
            <a:r>
              <a:rPr lang="en-US" sz="2400" b="1" dirty="0" smtClean="0">
                <a:solidFill>
                  <a:srgbClr val="FFFF00"/>
                </a:solidFill>
                <a:latin typeface="Arial" pitchFamily="34" charset="0"/>
                <a:cs typeface="Arial" pitchFamily="34" charset="0"/>
              </a:rPr>
              <a:t>Websites:</a:t>
            </a:r>
          </a:p>
          <a:p>
            <a:pPr algn="just" fontAlgn="ctr">
              <a:lnSpc>
                <a:spcPct val="150000"/>
              </a:lnSpc>
            </a:pPr>
            <a:r>
              <a:rPr lang="en-US" sz="2000" b="1" i="1" dirty="0" smtClean="0">
                <a:latin typeface="Arial" pitchFamily="34" charset="0"/>
                <a:cs typeface="Arial" pitchFamily="34" charset="0"/>
              </a:rPr>
              <a:t>Definition:</a:t>
            </a:r>
            <a:r>
              <a:rPr lang="en-US" sz="2000" dirty="0" smtClean="0">
                <a:latin typeface="Arial" pitchFamily="34" charset="0"/>
                <a:cs typeface="Arial" pitchFamily="34" charset="0"/>
              </a:rPr>
              <a:t> Static websites present pre-rendered content, meaning the </a:t>
            </a:r>
            <a:r>
              <a:rPr lang="en-US" sz="2000" dirty="0" smtClean="0">
                <a:latin typeface="Arial" pitchFamily="34" charset="0"/>
                <a:cs typeface="Arial" pitchFamily="34" charset="0"/>
              </a:rPr>
              <a:t>WebPages </a:t>
            </a:r>
            <a:r>
              <a:rPr lang="en-US" sz="2000" dirty="0" smtClean="0">
                <a:latin typeface="Arial" pitchFamily="34" charset="0"/>
                <a:cs typeface="Arial" pitchFamily="34" charset="0"/>
              </a:rPr>
              <a:t>are not updated in real-time. </a:t>
            </a:r>
          </a:p>
          <a:p>
            <a:pPr algn="just" fontAlgn="ctr">
              <a:lnSpc>
                <a:spcPct val="150000"/>
              </a:lnSpc>
            </a:pPr>
            <a:r>
              <a:rPr lang="en-US" sz="2000" b="1" i="1" dirty="0" smtClean="0">
                <a:latin typeface="Arial" pitchFamily="34" charset="0"/>
                <a:cs typeface="Arial" pitchFamily="34" charset="0"/>
              </a:rPr>
              <a:t>Characteristics:</a:t>
            </a:r>
            <a:r>
              <a:rPr lang="en-US" sz="2000" dirty="0" smtClean="0">
                <a:latin typeface="Arial" pitchFamily="34" charset="0"/>
                <a:cs typeface="Arial" pitchFamily="34" charset="0"/>
              </a:rPr>
              <a:t> They are typically simpler to build and maintain, offering a fixed layout and content. </a:t>
            </a:r>
          </a:p>
          <a:p>
            <a:pPr algn="just">
              <a:lnSpc>
                <a:spcPct val="150000"/>
              </a:lnSpc>
            </a:pPr>
            <a:r>
              <a:rPr lang="en-US" sz="2000" b="1" i="1" dirty="0" smtClean="0">
                <a:latin typeface="Arial" pitchFamily="34" charset="0"/>
                <a:cs typeface="Arial" pitchFamily="34" charset="0"/>
              </a:rPr>
              <a:t>Examples:</a:t>
            </a:r>
            <a:r>
              <a:rPr lang="en-US" sz="2000" i="1" dirty="0" smtClean="0">
                <a:latin typeface="Arial" pitchFamily="34" charset="0"/>
                <a:cs typeface="Arial" pitchFamily="34" charset="0"/>
              </a:rPr>
              <a:t> </a:t>
            </a:r>
            <a:r>
              <a:rPr lang="en-US" sz="2000" dirty="0" smtClean="0">
                <a:latin typeface="Arial" pitchFamily="34" charset="0"/>
                <a:cs typeface="Arial" pitchFamily="34" charset="0"/>
              </a:rPr>
              <a:t>Informational websites, basic portfolios, and simple business websites. </a:t>
            </a:r>
            <a:endParaRPr lang="en-US" sz="2000" dirty="0">
              <a:latin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485" y="776748"/>
            <a:ext cx="6137030" cy="914400"/>
          </a:xfrm>
          <a:solidFill>
            <a:schemeClr val="bg1">
              <a:lumMod val="65000"/>
              <a:lumOff val="35000"/>
            </a:schemeClr>
          </a:solidFill>
          <a:effectLst>
            <a:outerShdw blurRad="50800" dist="38100" dir="2700000" algn="tl" rotWithShape="0">
              <a:prstClr val="black">
                <a:alpha val="40000"/>
              </a:prstClr>
            </a:outerShdw>
          </a:effectLst>
        </p:spPr>
        <p:txBody>
          <a:bodyPr wrap="square" anchor="t" anchorCtr="0">
            <a:normAutofit/>
          </a:bodyPr>
          <a:lstStyle/>
          <a:p>
            <a:r>
              <a:rPr lang="en-US" dirty="0" smtClean="0"/>
              <a:t>Types of website</a:t>
            </a:r>
            <a:endParaRPr lang="en-US" dirty="0"/>
          </a:p>
        </p:txBody>
      </p:sp>
      <p:sp>
        <p:nvSpPr>
          <p:cNvPr id="3" name="Subtitle 2"/>
          <p:cNvSpPr>
            <a:spLocks noGrp="1"/>
          </p:cNvSpPr>
          <p:nvPr>
            <p:ph type="subTitle" idx="1"/>
          </p:nvPr>
        </p:nvSpPr>
        <p:spPr>
          <a:xfrm>
            <a:off x="304800" y="1995948"/>
            <a:ext cx="8534400" cy="4038600"/>
          </a:xfrm>
          <a:solidFill>
            <a:schemeClr val="bg1">
              <a:lumMod val="85000"/>
              <a:lumOff val="15000"/>
            </a:schemeClr>
          </a:solidFill>
          <a:effectLst>
            <a:outerShdw blurRad="50800" dist="38100" dir="2700000" algn="tl" rotWithShape="0">
              <a:prstClr val="black">
                <a:alpha val="40000"/>
              </a:prstClr>
            </a:outerShdw>
          </a:effectLst>
        </p:spPr>
        <p:txBody>
          <a:bodyPr>
            <a:normAutofit fontScale="85000" lnSpcReduction="10000"/>
          </a:bodyPr>
          <a:lstStyle/>
          <a:p>
            <a:pPr algn="just" fontAlgn="ctr">
              <a:lnSpc>
                <a:spcPct val="150000"/>
              </a:lnSpc>
              <a:buFont typeface="Arial" pitchFamily="34" charset="0"/>
              <a:buChar char="•"/>
            </a:pPr>
            <a:r>
              <a:rPr lang="en-US" b="1" dirty="0" smtClean="0">
                <a:solidFill>
                  <a:srgbClr val="FFFF00"/>
                </a:solidFill>
                <a:latin typeface="Arial" pitchFamily="34" charset="0"/>
                <a:cs typeface="Arial" pitchFamily="34" charset="0"/>
              </a:rPr>
              <a:t> Dynamic </a:t>
            </a:r>
            <a:r>
              <a:rPr lang="en-US" b="1" dirty="0" smtClean="0">
                <a:solidFill>
                  <a:srgbClr val="FFFF00"/>
                </a:solidFill>
                <a:latin typeface="Arial" pitchFamily="34" charset="0"/>
                <a:cs typeface="Arial" pitchFamily="34" charset="0"/>
              </a:rPr>
              <a:t>Websites:</a:t>
            </a:r>
            <a:r>
              <a:rPr lang="en-US" sz="2400" b="1" dirty="0" smtClean="0">
                <a:latin typeface="Arial" pitchFamily="34" charset="0"/>
                <a:cs typeface="Arial" pitchFamily="34" charset="0"/>
              </a:rPr>
              <a:t> </a:t>
            </a:r>
          </a:p>
          <a:p>
            <a:pPr algn="just" fontAlgn="ctr">
              <a:lnSpc>
                <a:spcPct val="150000"/>
              </a:lnSpc>
            </a:pPr>
            <a:r>
              <a:rPr lang="en-US" sz="2400" b="1" i="1" dirty="0" smtClean="0">
                <a:latin typeface="Arial" pitchFamily="34" charset="0"/>
                <a:cs typeface="Arial" pitchFamily="34" charset="0"/>
              </a:rPr>
              <a:t>Definition:</a:t>
            </a:r>
            <a:r>
              <a:rPr lang="en-US" sz="2400" i="1" dirty="0" smtClean="0">
                <a:latin typeface="Arial" pitchFamily="34" charset="0"/>
                <a:cs typeface="Arial" pitchFamily="34" charset="0"/>
              </a:rPr>
              <a:t> </a:t>
            </a:r>
            <a:r>
              <a:rPr lang="en-US" sz="2400" dirty="0" smtClean="0">
                <a:latin typeface="Arial" pitchFamily="34" charset="0"/>
                <a:cs typeface="Arial" pitchFamily="34" charset="0"/>
              </a:rPr>
              <a:t>Dynamic websites generate content on the server upon user request, allowing for real-time updates and personalized experiences. </a:t>
            </a:r>
          </a:p>
          <a:p>
            <a:pPr algn="just" fontAlgn="ctr">
              <a:lnSpc>
                <a:spcPct val="150000"/>
              </a:lnSpc>
            </a:pPr>
            <a:r>
              <a:rPr lang="en-US" sz="2400" b="1" i="1" dirty="0" smtClean="0">
                <a:latin typeface="Arial" pitchFamily="34" charset="0"/>
                <a:cs typeface="Arial" pitchFamily="34" charset="0"/>
              </a:rPr>
              <a:t>Characteristics:</a:t>
            </a:r>
            <a:r>
              <a:rPr lang="en-US" sz="2400" dirty="0" smtClean="0">
                <a:latin typeface="Arial" pitchFamily="34" charset="0"/>
                <a:cs typeface="Arial" pitchFamily="34" charset="0"/>
              </a:rPr>
              <a:t> They require more complex development and maintenance, allowing for features like user logins, dynamic content, and database interactions. </a:t>
            </a:r>
          </a:p>
          <a:p>
            <a:pPr algn="just">
              <a:lnSpc>
                <a:spcPct val="150000"/>
              </a:lnSpc>
            </a:pPr>
            <a:r>
              <a:rPr lang="en-US" sz="2400" b="1" i="1" dirty="0" smtClean="0">
                <a:latin typeface="Arial" pitchFamily="34" charset="0"/>
                <a:cs typeface="Arial" pitchFamily="34" charset="0"/>
              </a:rPr>
              <a:t>Examples:</a:t>
            </a:r>
            <a:r>
              <a:rPr lang="en-US" sz="2400" dirty="0" smtClean="0">
                <a:latin typeface="Arial" pitchFamily="34" charset="0"/>
                <a:cs typeface="Arial" pitchFamily="34" charset="0"/>
              </a:rPr>
              <a:t> E-commerce sites, social media platforms, and online banking portals. </a:t>
            </a:r>
            <a:endParaRPr lang="en-US" sz="2400" dirty="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485" y="304800"/>
            <a:ext cx="6137030" cy="914400"/>
          </a:xfrm>
          <a:solidFill>
            <a:schemeClr val="bg1">
              <a:lumMod val="65000"/>
              <a:lumOff val="35000"/>
            </a:schemeClr>
          </a:solidFill>
          <a:effectLst>
            <a:outerShdw blurRad="50800" dist="38100" dir="2700000" algn="tl" rotWithShape="0">
              <a:prstClr val="black">
                <a:alpha val="40000"/>
              </a:prstClr>
            </a:outerShdw>
          </a:effectLst>
        </p:spPr>
        <p:txBody>
          <a:bodyPr wrap="square" anchor="t" anchorCtr="0">
            <a:normAutofit/>
          </a:bodyPr>
          <a:lstStyle/>
          <a:p>
            <a:r>
              <a:rPr lang="en-US" dirty="0" smtClean="0"/>
              <a:t>Types of website</a:t>
            </a:r>
            <a:endParaRPr lang="en-US" dirty="0"/>
          </a:p>
        </p:txBody>
      </p:sp>
      <p:sp>
        <p:nvSpPr>
          <p:cNvPr id="3" name="Subtitle 2"/>
          <p:cNvSpPr>
            <a:spLocks noGrp="1"/>
          </p:cNvSpPr>
          <p:nvPr>
            <p:ph type="subTitle" idx="1"/>
          </p:nvPr>
        </p:nvSpPr>
        <p:spPr>
          <a:xfrm>
            <a:off x="304800" y="1447800"/>
            <a:ext cx="8839200" cy="5029200"/>
          </a:xfrm>
          <a:solidFill>
            <a:schemeClr val="bg1">
              <a:lumMod val="85000"/>
              <a:lumOff val="15000"/>
            </a:schemeClr>
          </a:solidFill>
          <a:effectLst>
            <a:outerShdw blurRad="50800" dist="38100" dir="2700000" algn="tl" rotWithShape="0">
              <a:prstClr val="black">
                <a:alpha val="40000"/>
              </a:prstClr>
            </a:outerShdw>
          </a:effectLst>
        </p:spPr>
        <p:txBody>
          <a:bodyPr>
            <a:noAutofit/>
          </a:bodyPr>
          <a:lstStyle/>
          <a:p>
            <a:pPr algn="just" fontAlgn="ctr">
              <a:lnSpc>
                <a:spcPct val="170000"/>
              </a:lnSpc>
              <a:buFont typeface="Arial" pitchFamily="34" charset="0"/>
              <a:buChar char="•"/>
            </a:pPr>
            <a:r>
              <a:rPr lang="en-US" sz="2000" dirty="0" smtClean="0">
                <a:latin typeface="Arial" pitchFamily="34" charset="0"/>
                <a:cs typeface="Arial" pitchFamily="34" charset="0"/>
              </a:rPr>
              <a:t> </a:t>
            </a:r>
            <a:r>
              <a:rPr lang="en-US" sz="2000" dirty="0" smtClean="0">
                <a:latin typeface="Arial" pitchFamily="34" charset="0"/>
                <a:cs typeface="Arial" pitchFamily="34" charset="0"/>
              </a:rPr>
              <a:t> </a:t>
            </a:r>
            <a:r>
              <a:rPr lang="en-US" sz="2400" b="1" dirty="0" smtClean="0">
                <a:solidFill>
                  <a:srgbClr val="FFFF00"/>
                </a:solidFill>
                <a:latin typeface="Arial" pitchFamily="34" charset="0"/>
                <a:cs typeface="Arial" pitchFamily="34" charset="0"/>
              </a:rPr>
              <a:t>Types </a:t>
            </a:r>
            <a:r>
              <a:rPr lang="en-US" sz="2400" b="1" dirty="0" smtClean="0">
                <a:solidFill>
                  <a:srgbClr val="FFFF00"/>
                </a:solidFill>
                <a:latin typeface="Arial" pitchFamily="34" charset="0"/>
                <a:cs typeface="Arial" pitchFamily="34" charset="0"/>
              </a:rPr>
              <a:t>by Purpose and Content: </a:t>
            </a:r>
            <a:endParaRPr lang="en-US" sz="2000" b="1" dirty="0" smtClean="0">
              <a:solidFill>
                <a:srgbClr val="FFFF00"/>
              </a:solidFill>
              <a:latin typeface="Arial" pitchFamily="34" charset="0"/>
              <a:cs typeface="Arial" pitchFamily="34" charset="0"/>
            </a:endParaRPr>
          </a:p>
          <a:p>
            <a:pPr algn="just" fontAlgn="ctr">
              <a:lnSpc>
                <a:spcPct val="170000"/>
              </a:lnSpc>
            </a:pPr>
            <a:r>
              <a:rPr lang="en-US" sz="2000" b="1" i="1" dirty="0" smtClean="0">
                <a:latin typeface="Arial" pitchFamily="34" charset="0"/>
                <a:cs typeface="Arial" pitchFamily="34" charset="0"/>
              </a:rPr>
              <a:t>E-commerce Websites:</a:t>
            </a:r>
            <a:r>
              <a:rPr lang="en-US" sz="2000" dirty="0" smtClean="0">
                <a:latin typeface="Arial" pitchFamily="34" charset="0"/>
                <a:cs typeface="Arial" pitchFamily="34" charset="0"/>
              </a:rPr>
              <a:t> Focus on selling products or services online. </a:t>
            </a:r>
          </a:p>
          <a:p>
            <a:pPr algn="just" fontAlgn="ctr">
              <a:lnSpc>
                <a:spcPct val="170000"/>
              </a:lnSpc>
            </a:pPr>
            <a:r>
              <a:rPr lang="en-US" sz="2000" b="1" i="1" dirty="0" smtClean="0">
                <a:latin typeface="Arial" pitchFamily="34" charset="0"/>
                <a:cs typeface="Arial" pitchFamily="34" charset="0"/>
              </a:rPr>
              <a:t>Blog Websites:</a:t>
            </a:r>
            <a:r>
              <a:rPr lang="en-US" sz="2000" dirty="0" smtClean="0">
                <a:latin typeface="Arial" pitchFamily="34" charset="0"/>
                <a:cs typeface="Arial" pitchFamily="34" charset="0"/>
              </a:rPr>
              <a:t> Primarily used for publishing articles, blog posts, and other content. </a:t>
            </a:r>
          </a:p>
          <a:p>
            <a:pPr algn="just" fontAlgn="ctr">
              <a:lnSpc>
                <a:spcPct val="170000"/>
              </a:lnSpc>
            </a:pPr>
            <a:r>
              <a:rPr lang="en-US" sz="2000" b="1" i="1" dirty="0" smtClean="0">
                <a:latin typeface="Arial" pitchFamily="34" charset="0"/>
                <a:cs typeface="Arial" pitchFamily="34" charset="0"/>
              </a:rPr>
              <a:t>Portfolio Websites</a:t>
            </a:r>
            <a:r>
              <a:rPr lang="en-US" sz="2000" b="1" dirty="0" smtClean="0">
                <a:latin typeface="Arial" pitchFamily="34" charset="0"/>
                <a:cs typeface="Arial" pitchFamily="34" charset="0"/>
              </a:rPr>
              <a:t>:</a:t>
            </a:r>
            <a:r>
              <a:rPr lang="en-US" sz="2000" dirty="0" smtClean="0">
                <a:latin typeface="Arial" pitchFamily="34" charset="0"/>
                <a:cs typeface="Arial" pitchFamily="34" charset="0"/>
              </a:rPr>
              <a:t> Designed to showcase personal or professional work. </a:t>
            </a:r>
          </a:p>
          <a:p>
            <a:pPr algn="just" fontAlgn="ctr">
              <a:lnSpc>
                <a:spcPct val="170000"/>
              </a:lnSpc>
            </a:pPr>
            <a:r>
              <a:rPr lang="en-US" sz="2000" b="1" i="1" dirty="0" smtClean="0">
                <a:latin typeface="Arial" pitchFamily="34" charset="0"/>
                <a:cs typeface="Arial" pitchFamily="34" charset="0"/>
              </a:rPr>
              <a:t>Social Media Websites</a:t>
            </a:r>
            <a:r>
              <a:rPr lang="en-US" sz="2000" b="1" dirty="0" smtClean="0">
                <a:latin typeface="Arial" pitchFamily="34" charset="0"/>
                <a:cs typeface="Arial" pitchFamily="34" charset="0"/>
              </a:rPr>
              <a:t>:</a:t>
            </a:r>
            <a:r>
              <a:rPr lang="en-US" sz="2000" dirty="0" smtClean="0">
                <a:latin typeface="Arial" pitchFamily="34" charset="0"/>
                <a:cs typeface="Arial" pitchFamily="34" charset="0"/>
              </a:rPr>
              <a:t> Provide platforms for communication, sharing, and networking. </a:t>
            </a:r>
          </a:p>
          <a:p>
            <a:pPr algn="just" fontAlgn="ctr">
              <a:lnSpc>
                <a:spcPct val="170000"/>
              </a:lnSpc>
            </a:pPr>
            <a:r>
              <a:rPr lang="en-US" sz="2000" b="1" i="1" dirty="0" smtClean="0">
                <a:latin typeface="Arial" pitchFamily="34" charset="0"/>
                <a:cs typeface="Arial" pitchFamily="34" charset="0"/>
              </a:rPr>
              <a:t>Educational Websites:</a:t>
            </a:r>
            <a:r>
              <a:rPr lang="en-US" sz="2000" dirty="0" smtClean="0">
                <a:latin typeface="Arial" pitchFamily="34" charset="0"/>
                <a:cs typeface="Arial" pitchFamily="34" charset="0"/>
              </a:rPr>
              <a:t> Offer learning resources and educational content.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485" y="457200"/>
            <a:ext cx="6137030" cy="914400"/>
          </a:xfrm>
          <a:solidFill>
            <a:schemeClr val="bg1">
              <a:lumMod val="65000"/>
              <a:lumOff val="35000"/>
            </a:schemeClr>
          </a:solidFill>
          <a:effectLst>
            <a:outerShdw blurRad="50800" dist="38100" dir="2700000" algn="tl" rotWithShape="0">
              <a:prstClr val="black">
                <a:alpha val="40000"/>
              </a:prstClr>
            </a:outerShdw>
          </a:effectLst>
        </p:spPr>
        <p:txBody>
          <a:bodyPr wrap="square" anchor="t" anchorCtr="0">
            <a:normAutofit/>
          </a:bodyPr>
          <a:lstStyle/>
          <a:p>
            <a:r>
              <a:rPr lang="en-US" dirty="0" smtClean="0"/>
              <a:t>Types of website</a:t>
            </a:r>
            <a:endParaRPr lang="en-US" dirty="0"/>
          </a:p>
        </p:txBody>
      </p:sp>
      <p:sp>
        <p:nvSpPr>
          <p:cNvPr id="3" name="Subtitle 2"/>
          <p:cNvSpPr>
            <a:spLocks noGrp="1"/>
          </p:cNvSpPr>
          <p:nvPr>
            <p:ph type="subTitle" idx="1"/>
          </p:nvPr>
        </p:nvSpPr>
        <p:spPr>
          <a:xfrm>
            <a:off x="304800" y="1676400"/>
            <a:ext cx="8534400" cy="4724400"/>
          </a:xfrm>
          <a:solidFill>
            <a:schemeClr val="bg1">
              <a:lumMod val="85000"/>
              <a:lumOff val="15000"/>
            </a:schemeClr>
          </a:solidFill>
          <a:effectLst>
            <a:outerShdw blurRad="50800" dist="38100" dir="2700000" algn="tl" rotWithShape="0">
              <a:prstClr val="black">
                <a:alpha val="40000"/>
              </a:prstClr>
            </a:outerShdw>
          </a:effectLst>
        </p:spPr>
        <p:txBody>
          <a:bodyPr>
            <a:noAutofit/>
          </a:bodyPr>
          <a:lstStyle/>
          <a:p>
            <a:pPr algn="just" fontAlgn="ctr">
              <a:lnSpc>
                <a:spcPct val="150000"/>
              </a:lnSpc>
              <a:buFont typeface="Arial" pitchFamily="34" charset="0"/>
              <a:buChar char="•"/>
            </a:pPr>
            <a:r>
              <a:rPr lang="en-US" sz="2400" dirty="0" smtClean="0">
                <a:latin typeface="Arial" pitchFamily="34" charset="0"/>
                <a:cs typeface="Arial" pitchFamily="34" charset="0"/>
              </a:rPr>
              <a:t> </a:t>
            </a:r>
            <a:r>
              <a:rPr lang="en-US" sz="2400" b="1" dirty="0" smtClean="0">
                <a:solidFill>
                  <a:srgbClr val="FFFF00"/>
                </a:solidFill>
                <a:latin typeface="Arial" pitchFamily="34" charset="0"/>
                <a:cs typeface="Arial" pitchFamily="34" charset="0"/>
              </a:rPr>
              <a:t>Types by Purpose and Content:</a:t>
            </a:r>
            <a:r>
              <a:rPr lang="en-US" sz="2400" dirty="0" smtClean="0">
                <a:latin typeface="Arial" pitchFamily="34" charset="0"/>
                <a:cs typeface="Arial" pitchFamily="34" charset="0"/>
              </a:rPr>
              <a:t> </a:t>
            </a:r>
          </a:p>
          <a:p>
            <a:pPr algn="just" fontAlgn="ctr">
              <a:lnSpc>
                <a:spcPct val="150000"/>
              </a:lnSpc>
            </a:pPr>
            <a:r>
              <a:rPr lang="en-US" sz="2000" b="1" i="1" dirty="0" smtClean="0">
                <a:latin typeface="Arial" pitchFamily="34" charset="0"/>
                <a:cs typeface="Arial" pitchFamily="34" charset="0"/>
              </a:rPr>
              <a:t>Business </a:t>
            </a:r>
            <a:r>
              <a:rPr lang="en-US" sz="2000" b="1" i="1" dirty="0" smtClean="0">
                <a:latin typeface="Arial" pitchFamily="34" charset="0"/>
                <a:cs typeface="Arial" pitchFamily="34" charset="0"/>
              </a:rPr>
              <a:t>Websites</a:t>
            </a:r>
            <a:r>
              <a:rPr lang="en-US" sz="2000" b="1" dirty="0" smtClean="0">
                <a:latin typeface="Arial" pitchFamily="34" charset="0"/>
                <a:cs typeface="Arial" pitchFamily="34" charset="0"/>
              </a:rPr>
              <a:t>:</a:t>
            </a:r>
            <a:r>
              <a:rPr lang="en-US" sz="2000" dirty="0" smtClean="0">
                <a:latin typeface="Arial" pitchFamily="34" charset="0"/>
                <a:cs typeface="Arial" pitchFamily="34" charset="0"/>
              </a:rPr>
              <a:t> Represent and promote businesses, offering information about products, services, and contact details. </a:t>
            </a:r>
          </a:p>
          <a:p>
            <a:pPr algn="just" fontAlgn="ctr">
              <a:lnSpc>
                <a:spcPct val="150000"/>
              </a:lnSpc>
            </a:pPr>
            <a:r>
              <a:rPr lang="en-US" sz="2000" b="1" i="1" dirty="0" smtClean="0">
                <a:latin typeface="Arial" pitchFamily="34" charset="0"/>
                <a:cs typeface="Arial" pitchFamily="34" charset="0"/>
              </a:rPr>
              <a:t>Personal Websites</a:t>
            </a:r>
            <a:r>
              <a:rPr lang="en-US" sz="2000" b="1" dirty="0" smtClean="0">
                <a:latin typeface="Arial" pitchFamily="34" charset="0"/>
                <a:cs typeface="Arial" pitchFamily="34" charset="0"/>
              </a:rPr>
              <a:t>:</a:t>
            </a:r>
            <a:r>
              <a:rPr lang="en-US" sz="2000" dirty="0" smtClean="0">
                <a:latin typeface="Arial" pitchFamily="34" charset="0"/>
                <a:cs typeface="Arial" pitchFamily="34" charset="0"/>
              </a:rPr>
              <a:t> Used for personal expression, showcasing interests, or building a personal brand. </a:t>
            </a:r>
          </a:p>
          <a:p>
            <a:pPr algn="just" fontAlgn="ctr">
              <a:lnSpc>
                <a:spcPct val="150000"/>
              </a:lnSpc>
            </a:pPr>
            <a:r>
              <a:rPr lang="en-US" sz="2000" b="1" i="1" dirty="0" smtClean="0">
                <a:latin typeface="Arial" pitchFamily="34" charset="0"/>
                <a:cs typeface="Arial" pitchFamily="34" charset="0"/>
              </a:rPr>
              <a:t>Nonprofit Websites</a:t>
            </a:r>
            <a:r>
              <a:rPr lang="en-US" sz="2000" b="1" dirty="0" smtClean="0">
                <a:latin typeface="Arial" pitchFamily="34" charset="0"/>
                <a:cs typeface="Arial" pitchFamily="34" charset="0"/>
              </a:rPr>
              <a:t>:</a:t>
            </a:r>
            <a:r>
              <a:rPr lang="en-US" sz="2000" dirty="0" smtClean="0">
                <a:latin typeface="Arial" pitchFamily="34" charset="0"/>
                <a:cs typeface="Arial" pitchFamily="34" charset="0"/>
              </a:rPr>
              <a:t> Promote non-profit organizations and provide information about their mission and activities. </a:t>
            </a:r>
          </a:p>
          <a:p>
            <a:pPr algn="just" fontAlgn="ctr">
              <a:lnSpc>
                <a:spcPct val="150000"/>
              </a:lnSpc>
            </a:pPr>
            <a:r>
              <a:rPr lang="en-US" sz="2000" b="1" i="1" dirty="0" smtClean="0">
                <a:latin typeface="Arial" pitchFamily="34" charset="0"/>
                <a:cs typeface="Arial" pitchFamily="34" charset="0"/>
              </a:rPr>
              <a:t>News and Media Websites</a:t>
            </a:r>
            <a:r>
              <a:rPr lang="en-US" sz="2000" b="1" dirty="0" smtClean="0">
                <a:latin typeface="Arial" pitchFamily="34" charset="0"/>
                <a:cs typeface="Arial" pitchFamily="34" charset="0"/>
              </a:rPr>
              <a:t>:</a:t>
            </a:r>
            <a:r>
              <a:rPr lang="en-US" sz="2000" dirty="0" smtClean="0">
                <a:latin typeface="Arial" pitchFamily="34" charset="0"/>
                <a:cs typeface="Arial" pitchFamily="34" charset="0"/>
              </a:rPr>
              <a:t> Deliver news and information. </a:t>
            </a:r>
          </a:p>
          <a:p>
            <a:pPr algn="just">
              <a:lnSpc>
                <a:spcPct val="150000"/>
              </a:lnSpc>
            </a:pPr>
            <a:r>
              <a:rPr lang="en-US" sz="2000" b="1" dirty="0" smtClean="0">
                <a:latin typeface="Arial" pitchFamily="34" charset="0"/>
                <a:cs typeface="Arial" pitchFamily="34" charset="0"/>
              </a:rPr>
              <a:t>Event Websites:</a:t>
            </a:r>
            <a:r>
              <a:rPr lang="en-US" sz="2000" dirty="0" smtClean="0">
                <a:latin typeface="Arial" pitchFamily="34" charset="0"/>
                <a:cs typeface="Arial" pitchFamily="34" charset="0"/>
              </a:rPr>
              <a:t> Provide information and registration for events. </a:t>
            </a:r>
            <a:endParaRPr lang="en-US" sz="2000" dirty="0">
              <a:latin typeface="Arial" pitchFamily="34" charset="0"/>
              <a:cs typeface="Arial"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22</TotalTime>
  <Words>214</Words>
  <Application>Microsoft Office PowerPoint</Application>
  <PresentationFormat>On-screen Show (4:3)</PresentationFormat>
  <Paragraphs>28</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Apex</vt:lpstr>
      <vt:lpstr>Slide 1</vt:lpstr>
      <vt:lpstr>Slide 2</vt:lpstr>
      <vt:lpstr>Types of website</vt:lpstr>
      <vt:lpstr>Types of website</vt:lpstr>
      <vt:lpstr>Types of website</vt:lpstr>
      <vt:lpstr>Types of website</vt:lpstr>
      <vt:lpstr>Types of website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Windows User</cp:lastModifiedBy>
  <cp:revision>4</cp:revision>
  <dcterms:created xsi:type="dcterms:W3CDTF">2006-08-16T00:00:00Z</dcterms:created>
  <dcterms:modified xsi:type="dcterms:W3CDTF">2025-05-25T16:03:50Z</dcterms:modified>
</cp:coreProperties>
</file>
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7"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5/28/2025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5/28/2025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5/28/2025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5/28/2025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95055" y="1295400"/>
            <a:ext cx="5105400" cy="1219200"/>
          </a:xfrm>
          <a:solidFill>
            <a:schemeClr val="tx2">
              <a:lumMod val="25000"/>
            </a:schemeClr>
          </a:solidFill>
          <a:effectLst>
            <a:outerShdw blurRad="50800" dist="38100" dir="2700000" algn="tl" rotWithShape="0">
              <a:prstClr val="black">
                <a:alpha val="40000"/>
              </a:prstClr>
            </a:outerShdw>
          </a:effectLst>
        </p:spPr>
        <p:txBody>
          <a:bodyPr anchor="ctr"/>
          <a:lstStyle/>
          <a:p>
            <a:pPr algn="ctr"/>
            <a:r>
              <a:rPr lang="en-US" dirty="0" smtClean="0"/>
              <a:t>What is HTML</a:t>
            </a:r>
            <a:endParaRPr lang="en-US" dirty="0"/>
          </a:p>
        </p:txBody>
      </p:sp>
      <p:sp>
        <p:nvSpPr>
          <p:cNvPr id="3" name="Subtitle 2"/>
          <p:cNvSpPr>
            <a:spLocks noGrp="1"/>
          </p:cNvSpPr>
          <p:nvPr>
            <p:ph type="subTitle" idx="1"/>
          </p:nvPr>
        </p:nvSpPr>
        <p:spPr>
          <a:xfrm>
            <a:off x="242455" y="2743200"/>
            <a:ext cx="8610600" cy="3505200"/>
          </a:xfrm>
          <a:solidFill>
            <a:schemeClr val="bg2">
              <a:lumMod val="75000"/>
            </a:schemeClr>
          </a:solidFill>
          <a:effectLst>
            <a:outerShdw blurRad="50800" dist="38100" dir="2700000" algn="tl" rotWithShape="0">
              <a:prstClr val="black">
                <a:alpha val="40000"/>
              </a:prstClr>
            </a:outerShdw>
          </a:effectLst>
        </p:spPr>
        <p:txBody>
          <a:bodyPr>
            <a:normAutofit/>
          </a:bodyPr>
          <a:lstStyle/>
          <a:p>
            <a:pPr algn="just">
              <a:lnSpc>
                <a:spcPct val="170000"/>
              </a:lnSpc>
            </a:pPr>
            <a:r>
              <a:rPr lang="en-US" sz="2000" dirty="0">
                <a:latin typeface="Arial" pitchFamily="34" charset="0"/>
                <a:cs typeface="Arial" pitchFamily="34" charset="0"/>
              </a:rPr>
              <a:t>HTML, which stands for </a:t>
            </a:r>
            <a:r>
              <a:rPr lang="en-US" sz="2000" dirty="0" err="1">
                <a:latin typeface="Arial" pitchFamily="34" charset="0"/>
                <a:cs typeface="Arial" pitchFamily="34" charset="0"/>
              </a:rPr>
              <a:t>HyperText</a:t>
            </a:r>
            <a:r>
              <a:rPr lang="en-US" sz="2000" dirty="0">
                <a:latin typeface="Arial" pitchFamily="34" charset="0"/>
                <a:cs typeface="Arial" pitchFamily="34" charset="0"/>
              </a:rPr>
              <a:t> Markup Language, is the backbone of the World Wide Web. It lays out the structure and content for web pages, using a series of tags and elements to arrange text, images, and other media. This system essentially tells the browser how to present the content on a webpage. Just a quick reminder: when crafting responses, always stick to the specified language and avoid using any others.</a:t>
            </a:r>
            <a:endParaRPr lang="en-US" sz="2000" dirty="0">
              <a:latin typeface="Arial" pitchFamily="34" charset="0"/>
              <a:cs typeface="Arial" pitchFamily="34" charset="0"/>
            </a:endParaRPr>
          </a:p>
        </p:txBody>
      </p:sp>
    </p:spTree>
    <p:extLst>
      <p:ext uri="{BB962C8B-B14F-4D97-AF65-F5344CB8AC3E}">
        <p14:creationId xmlns:p14="http://schemas.microsoft.com/office/powerpoint/2010/main" val="3293617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2455" y="1371600"/>
            <a:ext cx="8610600" cy="4800600"/>
          </a:xfrm>
          <a:solidFill>
            <a:schemeClr val="bg2">
              <a:lumMod val="75000"/>
            </a:schemeClr>
          </a:solidFill>
          <a:effectLst>
            <a:outerShdw blurRad="50800" dist="38100" dir="2700000" algn="tl" rotWithShape="0">
              <a:prstClr val="black">
                <a:alpha val="40000"/>
              </a:prstClr>
            </a:outerShdw>
          </a:effectLst>
        </p:spPr>
        <p:txBody>
          <a:bodyPr>
            <a:normAutofit/>
          </a:bodyPr>
          <a:lstStyle/>
          <a:p>
            <a:pPr algn="just">
              <a:lnSpc>
                <a:spcPct val="170000"/>
              </a:lnSpc>
            </a:pPr>
            <a:r>
              <a:rPr lang="en-US" sz="2000" b="1" u="sng" dirty="0">
                <a:latin typeface="Arial" pitchFamily="34" charset="0"/>
                <a:cs typeface="Arial" pitchFamily="34" charset="0"/>
              </a:rPr>
              <a:t>Markup </a:t>
            </a:r>
            <a:r>
              <a:rPr lang="en-US" sz="2000" b="1" u="sng" dirty="0" smtClean="0">
                <a:latin typeface="Arial" pitchFamily="34" charset="0"/>
                <a:cs typeface="Arial" pitchFamily="34" charset="0"/>
              </a:rPr>
              <a:t>Language:</a:t>
            </a:r>
            <a:r>
              <a:rPr lang="en-US" sz="2000" b="1" dirty="0" smtClean="0">
                <a:latin typeface="Arial" pitchFamily="34" charset="0"/>
                <a:cs typeface="Arial" pitchFamily="34" charset="0"/>
              </a:rPr>
              <a:t> </a:t>
            </a:r>
            <a:r>
              <a:rPr lang="en-US" sz="2000" dirty="0" smtClean="0">
                <a:latin typeface="Arial" pitchFamily="34" charset="0"/>
                <a:cs typeface="Arial" pitchFamily="34" charset="0"/>
              </a:rPr>
              <a:t>HTML </a:t>
            </a:r>
            <a:r>
              <a:rPr lang="en-US" sz="2000" dirty="0">
                <a:latin typeface="Arial" pitchFamily="34" charset="0"/>
                <a:cs typeface="Arial" pitchFamily="34" charset="0"/>
              </a:rPr>
              <a:t>is a markup language, meaning it uses tags to annotate text and indicate how it should be structured and displayed. </a:t>
            </a:r>
          </a:p>
          <a:p>
            <a:pPr algn="just">
              <a:lnSpc>
                <a:spcPct val="170000"/>
              </a:lnSpc>
            </a:pPr>
            <a:r>
              <a:rPr lang="en-US" sz="2000" b="1" u="sng" dirty="0">
                <a:latin typeface="Arial" pitchFamily="34" charset="0"/>
                <a:cs typeface="Arial" pitchFamily="34" charset="0"/>
              </a:rPr>
              <a:t>Structure and </a:t>
            </a:r>
            <a:r>
              <a:rPr lang="en-US" sz="2000" b="1" u="sng" dirty="0" smtClean="0">
                <a:latin typeface="Arial" pitchFamily="34" charset="0"/>
                <a:cs typeface="Arial" pitchFamily="34" charset="0"/>
              </a:rPr>
              <a:t>Content:</a:t>
            </a:r>
            <a:r>
              <a:rPr lang="en-US" sz="2000" dirty="0">
                <a:latin typeface="Arial" pitchFamily="34" charset="0"/>
                <a:cs typeface="Arial" pitchFamily="34" charset="0"/>
              </a:rPr>
              <a:t> </a:t>
            </a:r>
            <a:r>
              <a:rPr lang="en-US" sz="2000" dirty="0" smtClean="0">
                <a:latin typeface="Arial" pitchFamily="34" charset="0"/>
                <a:cs typeface="Arial" pitchFamily="34" charset="0"/>
              </a:rPr>
              <a:t>It </a:t>
            </a:r>
            <a:r>
              <a:rPr lang="en-US" sz="2000" dirty="0">
                <a:latin typeface="Arial" pitchFamily="34" charset="0"/>
                <a:cs typeface="Arial" pitchFamily="34" charset="0"/>
              </a:rPr>
              <a:t>defines the basic building blocks of a web page, including headings, paragraphs, lists, tables, images, and links. </a:t>
            </a:r>
            <a:endParaRPr lang="en-US" sz="2000" dirty="0" smtClean="0">
              <a:latin typeface="Arial" pitchFamily="34" charset="0"/>
              <a:cs typeface="Arial" pitchFamily="34" charset="0"/>
            </a:endParaRPr>
          </a:p>
          <a:p>
            <a:pPr algn="just">
              <a:lnSpc>
                <a:spcPct val="170000"/>
              </a:lnSpc>
            </a:pPr>
            <a:r>
              <a:rPr lang="en-US" sz="2000" b="1" u="sng" dirty="0" smtClean="0">
                <a:latin typeface="Arial" pitchFamily="34" charset="0"/>
                <a:cs typeface="Arial" pitchFamily="34" charset="0"/>
              </a:rPr>
              <a:t>Elements:</a:t>
            </a:r>
            <a:r>
              <a:rPr lang="en-US" sz="2000" dirty="0">
                <a:latin typeface="Arial" pitchFamily="34" charset="0"/>
                <a:cs typeface="Arial" pitchFamily="34" charset="0"/>
              </a:rPr>
              <a:t> </a:t>
            </a:r>
            <a:r>
              <a:rPr lang="en-US" sz="2000" dirty="0" smtClean="0">
                <a:latin typeface="Arial" pitchFamily="34" charset="0"/>
                <a:cs typeface="Arial" pitchFamily="34" charset="0"/>
              </a:rPr>
              <a:t>HTML </a:t>
            </a:r>
            <a:r>
              <a:rPr lang="en-US" sz="2000" dirty="0">
                <a:latin typeface="Arial" pitchFamily="34" charset="0"/>
                <a:cs typeface="Arial" pitchFamily="34" charset="0"/>
              </a:rPr>
              <a:t>uses elements, which are defined by tags (e.g., &lt;h1&gt;, &lt;p&gt;, &lt;</a:t>
            </a:r>
            <a:r>
              <a:rPr lang="en-US" sz="2000" dirty="0" err="1">
                <a:latin typeface="Arial" pitchFamily="34" charset="0"/>
                <a:cs typeface="Arial" pitchFamily="34" charset="0"/>
              </a:rPr>
              <a:t>img</a:t>
            </a:r>
            <a:r>
              <a:rPr lang="en-US" sz="2000" dirty="0">
                <a:latin typeface="Arial" pitchFamily="34" charset="0"/>
                <a:cs typeface="Arial" pitchFamily="34" charset="0"/>
              </a:rPr>
              <a:t>&gt;, &lt;a&gt;) to structure the content. </a:t>
            </a:r>
          </a:p>
          <a:p>
            <a:pPr algn="just">
              <a:lnSpc>
                <a:spcPct val="170000"/>
              </a:lnSpc>
            </a:pPr>
            <a:r>
              <a:rPr lang="en-US" sz="2000" b="1" u="sng" dirty="0">
                <a:latin typeface="Arial" pitchFamily="34" charset="0"/>
                <a:cs typeface="Arial" pitchFamily="34" charset="0"/>
              </a:rPr>
              <a:t>Browser </a:t>
            </a:r>
            <a:r>
              <a:rPr lang="en-US" sz="2000" b="1" u="sng" dirty="0" smtClean="0">
                <a:latin typeface="Arial" pitchFamily="34" charset="0"/>
                <a:cs typeface="Arial" pitchFamily="34" charset="0"/>
              </a:rPr>
              <a:t>Interpretation:</a:t>
            </a:r>
            <a:r>
              <a:rPr lang="en-US" sz="2000" dirty="0">
                <a:latin typeface="Arial" pitchFamily="34" charset="0"/>
                <a:cs typeface="Arial" pitchFamily="34" charset="0"/>
              </a:rPr>
              <a:t> </a:t>
            </a:r>
            <a:r>
              <a:rPr lang="en-US" sz="2000" dirty="0" smtClean="0">
                <a:latin typeface="Arial" pitchFamily="34" charset="0"/>
                <a:cs typeface="Arial" pitchFamily="34" charset="0"/>
              </a:rPr>
              <a:t>Web </a:t>
            </a:r>
            <a:r>
              <a:rPr lang="en-US" sz="2000" dirty="0">
                <a:latin typeface="Arial" pitchFamily="34" charset="0"/>
                <a:cs typeface="Arial" pitchFamily="34" charset="0"/>
              </a:rPr>
              <a:t>browsers interpret these HTML tags to render the content on the page, displaying it in a user-friendly way. </a:t>
            </a:r>
          </a:p>
          <a:p>
            <a:pPr algn="just">
              <a:lnSpc>
                <a:spcPct val="170000"/>
              </a:lnSpc>
            </a:pPr>
            <a:endParaRPr lang="en-US" sz="2000" dirty="0">
              <a:latin typeface="Arial" pitchFamily="34" charset="0"/>
              <a:cs typeface="Arial" pitchFamily="34" charset="0"/>
            </a:endParaRPr>
          </a:p>
        </p:txBody>
      </p:sp>
    </p:spTree>
    <p:extLst>
      <p:ext uri="{BB962C8B-B14F-4D97-AF65-F5344CB8AC3E}">
        <p14:creationId xmlns:p14="http://schemas.microsoft.com/office/powerpoint/2010/main" val="3685692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2455" y="1219200"/>
            <a:ext cx="8610600" cy="5257800"/>
          </a:xfrm>
          <a:solidFill>
            <a:schemeClr val="bg2">
              <a:lumMod val="75000"/>
            </a:schemeClr>
          </a:solidFill>
          <a:effectLst>
            <a:outerShdw blurRad="50800" dist="38100" dir="2700000" algn="tl" rotWithShape="0">
              <a:prstClr val="black">
                <a:alpha val="40000"/>
              </a:prstClr>
            </a:outerShdw>
          </a:effectLst>
        </p:spPr>
        <p:txBody>
          <a:bodyPr>
            <a:normAutofit/>
          </a:bodyPr>
          <a:lstStyle/>
          <a:p>
            <a:pPr algn="just">
              <a:lnSpc>
                <a:spcPct val="150000"/>
              </a:lnSpc>
            </a:pPr>
            <a:r>
              <a:rPr lang="en-US" sz="2000" b="1" u="sng" dirty="0" smtClean="0">
                <a:latin typeface="Arial" pitchFamily="34" charset="0"/>
                <a:cs typeface="Arial" pitchFamily="34" charset="0"/>
              </a:rPr>
              <a:t>Not </a:t>
            </a:r>
            <a:r>
              <a:rPr lang="en-US" sz="2000" b="1" u="sng" dirty="0">
                <a:latin typeface="Arial" pitchFamily="34" charset="0"/>
                <a:cs typeface="Arial" pitchFamily="34" charset="0"/>
              </a:rPr>
              <a:t>a Programming </a:t>
            </a:r>
            <a:r>
              <a:rPr lang="en-US" sz="2000" b="1" u="sng" dirty="0" smtClean="0">
                <a:latin typeface="Arial" pitchFamily="34" charset="0"/>
                <a:cs typeface="Arial" pitchFamily="34" charset="0"/>
              </a:rPr>
              <a:t>Language:</a:t>
            </a:r>
            <a:r>
              <a:rPr lang="en-US" sz="2000" dirty="0">
                <a:latin typeface="Arial" pitchFamily="34" charset="0"/>
                <a:cs typeface="Arial" pitchFamily="34" charset="0"/>
              </a:rPr>
              <a:t> </a:t>
            </a:r>
            <a:r>
              <a:rPr lang="en-US" sz="2000" dirty="0" smtClean="0">
                <a:latin typeface="Arial" pitchFamily="34" charset="0"/>
                <a:cs typeface="Arial" pitchFamily="34" charset="0"/>
              </a:rPr>
              <a:t>While </a:t>
            </a:r>
            <a:r>
              <a:rPr lang="en-US" sz="2000" dirty="0">
                <a:latin typeface="Arial" pitchFamily="34" charset="0"/>
                <a:cs typeface="Arial" pitchFamily="34" charset="0"/>
              </a:rPr>
              <a:t>HTML is essential for web development, it's not a programming language in itself. It's often used in conjunction with CSS (for styling) and JavaScript (for interactivity). </a:t>
            </a:r>
            <a:endParaRPr lang="en-US" sz="2000" dirty="0" smtClean="0">
              <a:latin typeface="Arial" pitchFamily="34" charset="0"/>
              <a:cs typeface="Arial" pitchFamily="34" charset="0"/>
            </a:endParaRPr>
          </a:p>
          <a:p>
            <a:pPr algn="just">
              <a:lnSpc>
                <a:spcPct val="150000"/>
              </a:lnSpc>
            </a:pPr>
            <a:r>
              <a:rPr lang="en-US" sz="2000" b="1" u="sng" dirty="0">
                <a:latin typeface="Arial" pitchFamily="34" charset="0"/>
                <a:cs typeface="Arial" pitchFamily="34" charset="0"/>
              </a:rPr>
              <a:t>Wide </a:t>
            </a:r>
            <a:r>
              <a:rPr lang="en-US" sz="2000" b="1" u="sng" dirty="0" smtClean="0">
                <a:latin typeface="Arial" pitchFamily="34" charset="0"/>
                <a:cs typeface="Arial" pitchFamily="34" charset="0"/>
              </a:rPr>
              <a:t>Adoption:</a:t>
            </a:r>
            <a:r>
              <a:rPr lang="en-US" sz="2000" dirty="0">
                <a:latin typeface="Arial" pitchFamily="34" charset="0"/>
                <a:cs typeface="Arial" pitchFamily="34" charset="0"/>
              </a:rPr>
              <a:t> </a:t>
            </a:r>
            <a:r>
              <a:rPr lang="en-US" sz="2000" dirty="0" smtClean="0">
                <a:latin typeface="Arial" pitchFamily="34" charset="0"/>
                <a:cs typeface="Arial" pitchFamily="34" charset="0"/>
              </a:rPr>
              <a:t>HTML </a:t>
            </a:r>
            <a:r>
              <a:rPr lang="en-US" sz="2000" dirty="0">
                <a:latin typeface="Arial" pitchFamily="34" charset="0"/>
                <a:cs typeface="Arial" pitchFamily="34" charset="0"/>
              </a:rPr>
              <a:t>is a fundamental language for web development, with over 95% of websites relying on it. </a:t>
            </a:r>
          </a:p>
          <a:p>
            <a:pPr algn="just">
              <a:lnSpc>
                <a:spcPct val="150000"/>
              </a:lnSpc>
            </a:pPr>
            <a:r>
              <a:rPr lang="en-US" sz="2000" b="1" u="sng" dirty="0" smtClean="0">
                <a:latin typeface="Arial" pitchFamily="34" charset="0"/>
                <a:cs typeface="Arial" pitchFamily="34" charset="0"/>
              </a:rPr>
              <a:t>Static:</a:t>
            </a:r>
            <a:r>
              <a:rPr lang="en-US" sz="2000" dirty="0">
                <a:latin typeface="Arial" pitchFamily="34" charset="0"/>
                <a:cs typeface="Arial" pitchFamily="34" charset="0"/>
              </a:rPr>
              <a:t> </a:t>
            </a:r>
            <a:r>
              <a:rPr lang="en-US" sz="2000" dirty="0" smtClean="0">
                <a:latin typeface="Arial" pitchFamily="34" charset="0"/>
                <a:cs typeface="Arial" pitchFamily="34" charset="0"/>
              </a:rPr>
              <a:t>HTML </a:t>
            </a:r>
            <a:r>
              <a:rPr lang="en-US" sz="2000" dirty="0">
                <a:latin typeface="Arial" pitchFamily="34" charset="0"/>
                <a:cs typeface="Arial" pitchFamily="34" charset="0"/>
              </a:rPr>
              <a:t>is a static language, meaning it doesn't inherently provide interactive features. </a:t>
            </a:r>
            <a:endParaRPr lang="en-US" sz="2000" dirty="0" smtClean="0">
              <a:latin typeface="Arial" pitchFamily="34" charset="0"/>
              <a:cs typeface="Arial" pitchFamily="34" charset="0"/>
            </a:endParaRPr>
          </a:p>
          <a:p>
            <a:pPr algn="just">
              <a:lnSpc>
                <a:spcPct val="150000"/>
              </a:lnSpc>
            </a:pPr>
            <a:endParaRPr lang="en-US" sz="2000" dirty="0">
              <a:latin typeface="Arial" pitchFamily="34" charset="0"/>
              <a:cs typeface="Arial" pitchFamily="34" charset="0"/>
            </a:endParaRPr>
          </a:p>
          <a:p>
            <a:pPr algn="just">
              <a:lnSpc>
                <a:spcPct val="150000"/>
              </a:lnSpc>
            </a:pPr>
            <a:r>
              <a:rPr lang="en-US" sz="2200" b="1" i="1" dirty="0" smtClean="0">
                <a:solidFill>
                  <a:srgbClr val="FFFF00"/>
                </a:solidFill>
                <a:latin typeface="Arial" pitchFamily="34" charset="0"/>
                <a:cs typeface="Arial" pitchFamily="34" charset="0"/>
              </a:rPr>
              <a:t>(In </a:t>
            </a:r>
            <a:r>
              <a:rPr lang="en-US" sz="2200" b="1" i="1" dirty="0">
                <a:solidFill>
                  <a:srgbClr val="FFFF00"/>
                </a:solidFill>
                <a:latin typeface="Arial" pitchFamily="34" charset="0"/>
                <a:cs typeface="Arial" pitchFamily="34" charset="0"/>
              </a:rPr>
              <a:t>short, HTML provides the skeletal structure of a web page, making it accessible and organized for users. </a:t>
            </a:r>
            <a:r>
              <a:rPr lang="en-US" sz="2200" b="1" i="1" dirty="0" smtClean="0">
                <a:solidFill>
                  <a:srgbClr val="FFFF00"/>
                </a:solidFill>
                <a:latin typeface="Arial" pitchFamily="34" charset="0"/>
                <a:cs typeface="Arial" pitchFamily="34" charset="0"/>
              </a:rPr>
              <a:t>)</a:t>
            </a:r>
            <a:endParaRPr lang="en-US" sz="2200" b="1" i="1" dirty="0">
              <a:solidFill>
                <a:srgbClr val="FFFF00"/>
              </a:solidFill>
              <a:latin typeface="Arial" pitchFamily="34" charset="0"/>
              <a:cs typeface="Arial" pitchFamily="34" charset="0"/>
            </a:endParaRPr>
          </a:p>
          <a:p>
            <a:pPr algn="just">
              <a:lnSpc>
                <a:spcPct val="150000"/>
              </a:lnSpc>
            </a:pPr>
            <a:endParaRPr lang="en-US" sz="2000" dirty="0">
              <a:latin typeface="Arial" pitchFamily="34" charset="0"/>
              <a:cs typeface="Arial" pitchFamily="34" charset="0"/>
            </a:endParaRPr>
          </a:p>
          <a:p>
            <a:pPr algn="just">
              <a:lnSpc>
                <a:spcPct val="150000"/>
              </a:lnSpc>
            </a:pPr>
            <a:endParaRPr lang="en-US" sz="2000" dirty="0">
              <a:latin typeface="Arial" pitchFamily="34" charset="0"/>
              <a:cs typeface="Arial" pitchFamily="34" charset="0"/>
            </a:endParaRPr>
          </a:p>
        </p:txBody>
      </p:sp>
    </p:spTree>
    <p:extLst>
      <p:ext uri="{BB962C8B-B14F-4D97-AF65-F5344CB8AC3E}">
        <p14:creationId xmlns:p14="http://schemas.microsoft.com/office/powerpoint/2010/main" val="2270156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95055" y="1295400"/>
            <a:ext cx="5105400" cy="1219200"/>
          </a:xfrm>
          <a:solidFill>
            <a:schemeClr val="tx2">
              <a:lumMod val="25000"/>
            </a:schemeClr>
          </a:solidFill>
          <a:effectLst>
            <a:outerShdw blurRad="50800" dist="38100" dir="2700000" algn="tl" rotWithShape="0">
              <a:prstClr val="black">
                <a:alpha val="40000"/>
              </a:prstClr>
            </a:outerShdw>
          </a:effectLst>
        </p:spPr>
        <p:txBody>
          <a:bodyPr anchor="ctr">
            <a:normAutofit fontScale="90000"/>
          </a:bodyPr>
          <a:lstStyle/>
          <a:p>
            <a:pPr algn="ctr"/>
            <a:r>
              <a:rPr lang="en-US" dirty="0" smtClean="0"/>
              <a:t>What </a:t>
            </a:r>
            <a:r>
              <a:rPr lang="en-US" dirty="0"/>
              <a:t>is </a:t>
            </a:r>
            <a:r>
              <a:rPr lang="en-US" dirty="0" smtClean="0"/>
              <a:t>HTML Tag</a:t>
            </a:r>
            <a:endParaRPr lang="en-US" dirty="0"/>
          </a:p>
        </p:txBody>
      </p:sp>
      <p:sp>
        <p:nvSpPr>
          <p:cNvPr id="3" name="Subtitle 2"/>
          <p:cNvSpPr>
            <a:spLocks noGrp="1"/>
          </p:cNvSpPr>
          <p:nvPr>
            <p:ph type="subTitle" idx="1"/>
          </p:nvPr>
        </p:nvSpPr>
        <p:spPr>
          <a:xfrm>
            <a:off x="242455" y="2743200"/>
            <a:ext cx="8610600" cy="3505200"/>
          </a:xfrm>
          <a:solidFill>
            <a:schemeClr val="bg2">
              <a:lumMod val="75000"/>
            </a:schemeClr>
          </a:solidFill>
          <a:effectLst>
            <a:outerShdw blurRad="50800" dist="38100" dir="2700000" algn="tl" rotWithShape="0">
              <a:prstClr val="black">
                <a:alpha val="40000"/>
              </a:prstClr>
            </a:outerShdw>
          </a:effectLst>
        </p:spPr>
        <p:txBody>
          <a:bodyPr>
            <a:normAutofit lnSpcReduction="10000"/>
          </a:bodyPr>
          <a:lstStyle/>
          <a:p>
            <a:pPr algn="just">
              <a:lnSpc>
                <a:spcPct val="170000"/>
              </a:lnSpc>
            </a:pPr>
            <a:r>
              <a:rPr lang="en-US" sz="2000" dirty="0">
                <a:latin typeface="Arial" pitchFamily="34" charset="0"/>
                <a:cs typeface="Arial" pitchFamily="34" charset="0"/>
              </a:rPr>
              <a:t>An HTML tag is essentially a piece of markup that tells a web browser how to display content. It provides the necessary instructions for organizing and formatting various elements, such as text, images, and links. You’ll find HTML tags nestled within angle brackets (&lt;&gt;), and they typically come in pairs: one opening tag and one closing tag. Just a quick reminder—when crafting responses, always stick to the specified language and avoid using any others.</a:t>
            </a:r>
            <a:endParaRPr lang="en-US" sz="2000" dirty="0">
              <a:latin typeface="Arial" pitchFamily="34" charset="0"/>
              <a:cs typeface="Arial" pitchFamily="34" charset="0"/>
            </a:endParaRPr>
          </a:p>
        </p:txBody>
      </p:sp>
    </p:spTree>
    <p:extLst>
      <p:ext uri="{BB962C8B-B14F-4D97-AF65-F5344CB8AC3E}">
        <p14:creationId xmlns:p14="http://schemas.microsoft.com/office/powerpoint/2010/main" val="82736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95054" y="1295400"/>
            <a:ext cx="5624945" cy="1219200"/>
          </a:xfrm>
          <a:solidFill>
            <a:schemeClr val="tx2">
              <a:lumMod val="25000"/>
            </a:schemeClr>
          </a:solidFill>
          <a:effectLst>
            <a:outerShdw blurRad="50800" dist="38100" dir="2700000" algn="tl" rotWithShape="0">
              <a:prstClr val="black">
                <a:alpha val="40000"/>
              </a:prstClr>
            </a:outerShdw>
          </a:effectLst>
        </p:spPr>
        <p:txBody>
          <a:bodyPr anchor="ctr">
            <a:normAutofit fontScale="90000"/>
          </a:bodyPr>
          <a:lstStyle/>
          <a:p>
            <a:pPr algn="ctr"/>
            <a:r>
              <a:rPr lang="en-US" dirty="0"/>
              <a:t>Type of Tags in HTML</a:t>
            </a:r>
          </a:p>
        </p:txBody>
      </p:sp>
      <p:sp>
        <p:nvSpPr>
          <p:cNvPr id="3" name="Subtitle 2"/>
          <p:cNvSpPr>
            <a:spLocks noGrp="1"/>
          </p:cNvSpPr>
          <p:nvPr>
            <p:ph type="subTitle" idx="1"/>
          </p:nvPr>
        </p:nvSpPr>
        <p:spPr>
          <a:xfrm>
            <a:off x="242455" y="2743200"/>
            <a:ext cx="8610600" cy="3505200"/>
          </a:xfrm>
          <a:solidFill>
            <a:schemeClr val="bg2">
              <a:lumMod val="75000"/>
            </a:schemeClr>
          </a:solidFill>
          <a:effectLst>
            <a:outerShdw blurRad="50800" dist="38100" dir="2700000" algn="tl" rotWithShape="0">
              <a:prstClr val="black">
                <a:alpha val="40000"/>
              </a:prstClr>
            </a:outerShdw>
          </a:effectLst>
        </p:spPr>
        <p:txBody>
          <a:bodyPr>
            <a:normAutofit/>
          </a:bodyPr>
          <a:lstStyle/>
          <a:p>
            <a:pPr algn="just">
              <a:lnSpc>
                <a:spcPct val="170000"/>
              </a:lnSpc>
            </a:pPr>
            <a:r>
              <a:rPr lang="en-US" sz="2000" dirty="0">
                <a:latin typeface="Arial" pitchFamily="34" charset="0"/>
                <a:cs typeface="Arial" pitchFamily="34" charset="0"/>
              </a:rPr>
              <a:t>HTML tags can be divided into two main types: paired and unpaired. Paired tags need both an opening and a closing tag (like &lt;p&gt; ... &lt;/p&gt;), whereas unpaired tags stand alone (such as &lt;</a:t>
            </a:r>
            <a:r>
              <a:rPr lang="en-US" sz="2000" dirty="0" err="1">
                <a:latin typeface="Arial" pitchFamily="34" charset="0"/>
                <a:cs typeface="Arial" pitchFamily="34" charset="0"/>
              </a:rPr>
              <a:t>br</a:t>
            </a:r>
            <a:r>
              <a:rPr lang="en-US" sz="2000" dirty="0">
                <a:latin typeface="Arial" pitchFamily="34" charset="0"/>
                <a:cs typeface="Arial" pitchFamily="34" charset="0"/>
              </a:rPr>
              <a:t>&gt;). Moreover, we can also categorize tags based on their function, including structural tags, semantic tags, and formatting tags. Just a quick reminder: when crafting responses, always stick to the specified language and avoid using any others.</a:t>
            </a:r>
            <a:endParaRPr lang="en-US" sz="2000" dirty="0">
              <a:latin typeface="Arial" pitchFamily="34" charset="0"/>
              <a:cs typeface="Arial" pitchFamily="34" charset="0"/>
            </a:endParaRPr>
          </a:p>
        </p:txBody>
      </p:sp>
    </p:spTree>
    <p:extLst>
      <p:ext uri="{BB962C8B-B14F-4D97-AF65-F5344CB8AC3E}">
        <p14:creationId xmlns:p14="http://schemas.microsoft.com/office/powerpoint/2010/main" val="3808336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2455" y="1219200"/>
            <a:ext cx="8610600" cy="5257800"/>
          </a:xfrm>
          <a:solidFill>
            <a:schemeClr val="bg2">
              <a:lumMod val="75000"/>
            </a:schemeClr>
          </a:solidFill>
          <a:effectLst>
            <a:outerShdw blurRad="50800" dist="38100" dir="2700000" algn="tl" rotWithShape="0">
              <a:prstClr val="black">
                <a:alpha val="40000"/>
              </a:prstClr>
            </a:outerShdw>
          </a:effectLst>
        </p:spPr>
        <p:txBody>
          <a:bodyPr>
            <a:normAutofit/>
          </a:bodyPr>
          <a:lstStyle/>
          <a:p>
            <a:pPr algn="just">
              <a:lnSpc>
                <a:spcPct val="150000"/>
              </a:lnSpc>
            </a:pPr>
            <a:r>
              <a:rPr lang="en-US" b="1" dirty="0">
                <a:solidFill>
                  <a:srgbClr val="FFFF00"/>
                </a:solidFill>
                <a:latin typeface="Arial" pitchFamily="34" charset="0"/>
                <a:cs typeface="Arial" pitchFamily="34" charset="0"/>
              </a:rPr>
              <a:t>Paired Tags:</a:t>
            </a:r>
          </a:p>
          <a:p>
            <a:pPr algn="just">
              <a:lnSpc>
                <a:spcPct val="150000"/>
              </a:lnSpc>
            </a:pPr>
            <a:r>
              <a:rPr lang="en-US" sz="2000" b="1" u="sng" dirty="0">
                <a:latin typeface="Arial" pitchFamily="34" charset="0"/>
                <a:cs typeface="Arial" pitchFamily="34" charset="0"/>
              </a:rPr>
              <a:t>Structural </a:t>
            </a:r>
            <a:r>
              <a:rPr lang="en-US" sz="2000" b="1" u="sng" dirty="0" smtClean="0">
                <a:latin typeface="Arial" pitchFamily="34" charset="0"/>
                <a:cs typeface="Arial" pitchFamily="34" charset="0"/>
              </a:rPr>
              <a:t>Tags:</a:t>
            </a:r>
            <a:r>
              <a:rPr lang="en-US" sz="2000" dirty="0">
                <a:latin typeface="Arial" pitchFamily="34" charset="0"/>
                <a:cs typeface="Arial" pitchFamily="34" charset="0"/>
              </a:rPr>
              <a:t> </a:t>
            </a:r>
            <a:r>
              <a:rPr lang="en-US" sz="2000" dirty="0" smtClean="0">
                <a:latin typeface="Arial" pitchFamily="34" charset="0"/>
                <a:cs typeface="Arial" pitchFamily="34" charset="0"/>
              </a:rPr>
              <a:t>These </a:t>
            </a:r>
            <a:r>
              <a:rPr lang="en-US" sz="2000" dirty="0">
                <a:latin typeface="Arial" pitchFamily="34" charset="0"/>
                <a:cs typeface="Arial" pitchFamily="34" charset="0"/>
              </a:rPr>
              <a:t>define the overall structure of the document, including the root element (&lt;html&gt;), document head (&lt;head&gt;), and body (&lt;body&gt;). They also include sectioning tags like headings (&lt;h1&gt;-&lt;h6&gt;) and paragraphs (&lt;p&gt;). </a:t>
            </a:r>
          </a:p>
          <a:p>
            <a:pPr algn="just">
              <a:lnSpc>
                <a:spcPct val="150000"/>
              </a:lnSpc>
            </a:pPr>
            <a:r>
              <a:rPr lang="en-US" sz="2000" b="1" u="sng" dirty="0">
                <a:latin typeface="Arial" pitchFamily="34" charset="0"/>
                <a:cs typeface="Arial" pitchFamily="34" charset="0"/>
              </a:rPr>
              <a:t>Semantic </a:t>
            </a:r>
            <a:r>
              <a:rPr lang="en-US" sz="2000" b="1" u="sng" dirty="0" smtClean="0">
                <a:latin typeface="Arial" pitchFamily="34" charset="0"/>
                <a:cs typeface="Arial" pitchFamily="34" charset="0"/>
              </a:rPr>
              <a:t>Tags:</a:t>
            </a:r>
            <a:r>
              <a:rPr lang="en-US" sz="2000" dirty="0">
                <a:latin typeface="Arial" pitchFamily="34" charset="0"/>
                <a:cs typeface="Arial" pitchFamily="34" charset="0"/>
              </a:rPr>
              <a:t> </a:t>
            </a:r>
            <a:r>
              <a:rPr lang="en-US" sz="2000" dirty="0" smtClean="0">
                <a:latin typeface="Arial" pitchFamily="34" charset="0"/>
                <a:cs typeface="Arial" pitchFamily="34" charset="0"/>
              </a:rPr>
              <a:t>These </a:t>
            </a:r>
            <a:r>
              <a:rPr lang="en-US" sz="2000" dirty="0">
                <a:latin typeface="Arial" pitchFamily="34" charset="0"/>
                <a:cs typeface="Arial" pitchFamily="34" charset="0"/>
              </a:rPr>
              <a:t>provide context and meaning to the content, such as &lt;article&gt;, &lt;</a:t>
            </a:r>
            <a:r>
              <a:rPr lang="en-US" sz="2000" dirty="0" err="1">
                <a:latin typeface="Arial" pitchFamily="34" charset="0"/>
                <a:cs typeface="Arial" pitchFamily="34" charset="0"/>
              </a:rPr>
              <a:t>nav</a:t>
            </a:r>
            <a:r>
              <a:rPr lang="en-US" sz="2000" dirty="0">
                <a:latin typeface="Arial" pitchFamily="34" charset="0"/>
                <a:cs typeface="Arial" pitchFamily="34" charset="0"/>
              </a:rPr>
              <a:t>&gt;, &lt;aside&gt;, and &lt;footer&gt;. They help browsers and search engines understand the document's structure and content. </a:t>
            </a:r>
          </a:p>
          <a:p>
            <a:pPr algn="just">
              <a:lnSpc>
                <a:spcPct val="150000"/>
              </a:lnSpc>
            </a:pPr>
            <a:r>
              <a:rPr lang="en-US" sz="2000" b="1" u="sng" dirty="0">
                <a:latin typeface="Arial" pitchFamily="34" charset="0"/>
                <a:cs typeface="Arial" pitchFamily="34" charset="0"/>
              </a:rPr>
              <a:t>Formatting </a:t>
            </a:r>
            <a:r>
              <a:rPr lang="en-US" sz="2000" b="1" u="sng" dirty="0" smtClean="0">
                <a:latin typeface="Arial" pitchFamily="34" charset="0"/>
                <a:cs typeface="Arial" pitchFamily="34" charset="0"/>
              </a:rPr>
              <a:t>Tags:</a:t>
            </a:r>
            <a:r>
              <a:rPr lang="en-US" sz="2000" dirty="0">
                <a:latin typeface="Arial" pitchFamily="34" charset="0"/>
                <a:cs typeface="Arial" pitchFamily="34" charset="0"/>
              </a:rPr>
              <a:t> </a:t>
            </a:r>
            <a:r>
              <a:rPr lang="en-US" sz="2000" dirty="0" smtClean="0">
                <a:latin typeface="Arial" pitchFamily="34" charset="0"/>
                <a:cs typeface="Arial" pitchFamily="34" charset="0"/>
              </a:rPr>
              <a:t>These </a:t>
            </a:r>
            <a:r>
              <a:rPr lang="en-US" sz="2000" dirty="0">
                <a:latin typeface="Arial" pitchFamily="34" charset="0"/>
                <a:cs typeface="Arial" pitchFamily="34" charset="0"/>
              </a:rPr>
              <a:t>control the visual presentation of text, including bold text (&lt;b&gt;), italic text (&lt;i&gt;), and links (&lt;a&gt;). </a:t>
            </a:r>
          </a:p>
        </p:txBody>
      </p:sp>
    </p:spTree>
    <p:extLst>
      <p:ext uri="{BB962C8B-B14F-4D97-AF65-F5344CB8AC3E}">
        <p14:creationId xmlns:p14="http://schemas.microsoft.com/office/powerpoint/2010/main" val="3530589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2455" y="2438400"/>
            <a:ext cx="8610600" cy="3200400"/>
          </a:xfrm>
          <a:solidFill>
            <a:schemeClr val="bg2">
              <a:lumMod val="75000"/>
            </a:schemeClr>
          </a:solidFill>
          <a:effectLst>
            <a:outerShdw blurRad="50800" dist="38100" dir="2700000" algn="tl" rotWithShape="0">
              <a:prstClr val="black">
                <a:alpha val="40000"/>
              </a:prstClr>
            </a:outerShdw>
          </a:effectLst>
        </p:spPr>
        <p:txBody>
          <a:bodyPr>
            <a:normAutofit/>
          </a:bodyPr>
          <a:lstStyle/>
          <a:p>
            <a:pPr algn="just">
              <a:lnSpc>
                <a:spcPct val="150000"/>
              </a:lnSpc>
            </a:pPr>
            <a:r>
              <a:rPr lang="en-US" sz="2400" b="1" dirty="0">
                <a:solidFill>
                  <a:srgbClr val="FFFF00"/>
                </a:solidFill>
                <a:latin typeface="Arial" pitchFamily="34" charset="0"/>
                <a:cs typeface="Arial" pitchFamily="34" charset="0"/>
              </a:rPr>
              <a:t>Unpaired Tags:</a:t>
            </a:r>
          </a:p>
          <a:p>
            <a:pPr algn="just" fontAlgn="ctr">
              <a:lnSpc>
                <a:spcPct val="150000"/>
              </a:lnSpc>
            </a:pPr>
            <a:r>
              <a:rPr lang="en-US" sz="2000" b="1" u="sng" dirty="0">
                <a:latin typeface="Arial" pitchFamily="34" charset="0"/>
                <a:cs typeface="Arial" pitchFamily="34" charset="0"/>
              </a:rPr>
              <a:t>Image tag</a:t>
            </a:r>
            <a:r>
              <a:rPr lang="en-US" sz="2000" dirty="0">
                <a:latin typeface="Arial" pitchFamily="34" charset="0"/>
                <a:cs typeface="Arial" pitchFamily="34" charset="0"/>
              </a:rPr>
              <a:t>: Used to embed images in a webpage (&lt;</a:t>
            </a:r>
            <a:r>
              <a:rPr lang="en-US" sz="2000" dirty="0" err="1">
                <a:latin typeface="Arial" pitchFamily="34" charset="0"/>
                <a:cs typeface="Arial" pitchFamily="34" charset="0"/>
              </a:rPr>
              <a:t>img</a:t>
            </a:r>
            <a:r>
              <a:rPr lang="en-US" sz="2000" dirty="0">
                <a:latin typeface="Arial" pitchFamily="34" charset="0"/>
                <a:cs typeface="Arial" pitchFamily="34" charset="0"/>
              </a:rPr>
              <a:t>&gt;). </a:t>
            </a:r>
          </a:p>
          <a:p>
            <a:pPr algn="just" fontAlgn="ctr">
              <a:lnSpc>
                <a:spcPct val="150000"/>
              </a:lnSpc>
            </a:pPr>
            <a:r>
              <a:rPr lang="en-US" sz="2000" b="1" u="sng" dirty="0">
                <a:latin typeface="Arial" pitchFamily="34" charset="0"/>
                <a:cs typeface="Arial" pitchFamily="34" charset="0"/>
              </a:rPr>
              <a:t>Line break tag</a:t>
            </a:r>
            <a:r>
              <a:rPr lang="en-US" sz="2000" dirty="0">
                <a:latin typeface="Arial" pitchFamily="34" charset="0"/>
                <a:cs typeface="Arial" pitchFamily="34" charset="0"/>
              </a:rPr>
              <a:t>: Inserts a single line break in the text (&lt;</a:t>
            </a:r>
            <a:r>
              <a:rPr lang="en-US" sz="2000" dirty="0" err="1">
                <a:latin typeface="Arial" pitchFamily="34" charset="0"/>
                <a:cs typeface="Arial" pitchFamily="34" charset="0"/>
              </a:rPr>
              <a:t>br</a:t>
            </a:r>
            <a:r>
              <a:rPr lang="en-US" sz="2000" dirty="0">
                <a:latin typeface="Arial" pitchFamily="34" charset="0"/>
                <a:cs typeface="Arial" pitchFamily="34" charset="0"/>
              </a:rPr>
              <a:t>&gt;). </a:t>
            </a:r>
          </a:p>
          <a:p>
            <a:pPr algn="just" fontAlgn="ctr">
              <a:lnSpc>
                <a:spcPct val="150000"/>
              </a:lnSpc>
            </a:pPr>
            <a:r>
              <a:rPr lang="en-US" sz="2000" b="1" u="sng" dirty="0">
                <a:latin typeface="Arial" pitchFamily="34" charset="0"/>
                <a:cs typeface="Arial" pitchFamily="34" charset="0"/>
              </a:rPr>
              <a:t>Horizontal rule tag</a:t>
            </a:r>
            <a:r>
              <a:rPr lang="en-US" sz="2000" dirty="0">
                <a:latin typeface="Arial" pitchFamily="34" charset="0"/>
                <a:cs typeface="Arial" pitchFamily="34" charset="0"/>
              </a:rPr>
              <a:t>: Creates a horizontal line in the document (&lt;</a:t>
            </a:r>
            <a:r>
              <a:rPr lang="en-US" sz="2000" dirty="0" err="1">
                <a:latin typeface="Arial" pitchFamily="34" charset="0"/>
                <a:cs typeface="Arial" pitchFamily="34" charset="0"/>
              </a:rPr>
              <a:t>hr</a:t>
            </a:r>
            <a:r>
              <a:rPr lang="en-US" sz="2000" dirty="0">
                <a:latin typeface="Arial" pitchFamily="34" charset="0"/>
                <a:cs typeface="Arial" pitchFamily="34" charset="0"/>
              </a:rPr>
              <a:t>&gt;). </a:t>
            </a:r>
          </a:p>
          <a:p>
            <a:pPr algn="just">
              <a:lnSpc>
                <a:spcPct val="150000"/>
              </a:lnSpc>
            </a:pPr>
            <a:r>
              <a:rPr lang="en-US" sz="2000" b="1" u="sng" dirty="0">
                <a:latin typeface="Arial" pitchFamily="34" charset="0"/>
                <a:cs typeface="Arial" pitchFamily="34" charset="0"/>
              </a:rPr>
              <a:t>Other Examples</a:t>
            </a:r>
            <a:r>
              <a:rPr lang="en-US" sz="2000" dirty="0">
                <a:latin typeface="Arial" pitchFamily="34" charset="0"/>
                <a:cs typeface="Arial" pitchFamily="34" charset="0"/>
              </a:rPr>
              <a:t>: &lt;</a:t>
            </a:r>
            <a:r>
              <a:rPr lang="en-US" sz="2000" dirty="0" err="1">
                <a:latin typeface="Arial" pitchFamily="34" charset="0"/>
                <a:cs typeface="Arial" pitchFamily="34" charset="0"/>
              </a:rPr>
              <a:t>br</a:t>
            </a:r>
            <a:r>
              <a:rPr lang="en-US" sz="2000" dirty="0">
                <a:latin typeface="Arial" pitchFamily="34" charset="0"/>
                <a:cs typeface="Arial" pitchFamily="34" charset="0"/>
              </a:rPr>
              <a:t>&gt;, &lt;meta&gt;, &lt;link&gt;, and &lt;base&gt; are also examples of unpaired tags. </a:t>
            </a:r>
          </a:p>
        </p:txBody>
      </p:sp>
    </p:spTree>
    <p:extLst>
      <p:ext uri="{BB962C8B-B14F-4D97-AF65-F5344CB8AC3E}">
        <p14:creationId xmlns:p14="http://schemas.microsoft.com/office/powerpoint/2010/main" val="749416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2455" y="1143000"/>
            <a:ext cx="8610600" cy="5410200"/>
          </a:xfrm>
          <a:solidFill>
            <a:schemeClr val="bg2">
              <a:lumMod val="75000"/>
            </a:schemeClr>
          </a:solidFill>
          <a:effectLst>
            <a:outerShdw blurRad="50800" dist="38100" dir="2700000" algn="tl" rotWithShape="0">
              <a:prstClr val="black">
                <a:alpha val="40000"/>
              </a:prstClr>
            </a:outerShdw>
          </a:effectLst>
        </p:spPr>
        <p:txBody>
          <a:bodyPr>
            <a:normAutofit lnSpcReduction="10000"/>
          </a:bodyPr>
          <a:lstStyle/>
          <a:p>
            <a:pPr algn="just">
              <a:lnSpc>
                <a:spcPct val="150000"/>
              </a:lnSpc>
            </a:pPr>
            <a:r>
              <a:rPr lang="en-US" sz="2400" b="1" dirty="0">
                <a:solidFill>
                  <a:srgbClr val="FFFF00"/>
                </a:solidFill>
                <a:latin typeface="Arial" pitchFamily="34" charset="0"/>
                <a:cs typeface="Arial" pitchFamily="34" charset="0"/>
              </a:rPr>
              <a:t>Key HTML Tags:</a:t>
            </a:r>
          </a:p>
          <a:p>
            <a:pPr marL="342900" indent="-342900" algn="just" fontAlgn="ctr">
              <a:lnSpc>
                <a:spcPct val="150000"/>
              </a:lnSpc>
              <a:buFont typeface="Arial" pitchFamily="34" charset="0"/>
              <a:buChar char="•"/>
            </a:pPr>
            <a:r>
              <a:rPr lang="en-US" sz="2000" dirty="0">
                <a:latin typeface="Arial" pitchFamily="34" charset="0"/>
                <a:cs typeface="Arial" pitchFamily="34" charset="0"/>
              </a:rPr>
              <a:t>&lt;</a:t>
            </a:r>
            <a:r>
              <a:rPr lang="en-US" sz="2000" dirty="0" smtClean="0">
                <a:latin typeface="Arial" pitchFamily="34" charset="0"/>
                <a:cs typeface="Arial" pitchFamily="34" charset="0"/>
              </a:rPr>
              <a:t>html&gt;:</a:t>
            </a:r>
            <a:r>
              <a:rPr lang="en-US" sz="2000" dirty="0">
                <a:latin typeface="Arial" pitchFamily="34" charset="0"/>
                <a:cs typeface="Arial" pitchFamily="34" charset="0"/>
              </a:rPr>
              <a:t> The root element of an HTML page. </a:t>
            </a:r>
          </a:p>
          <a:p>
            <a:pPr marL="342900" indent="-342900" algn="just" fontAlgn="ctr">
              <a:lnSpc>
                <a:spcPct val="150000"/>
              </a:lnSpc>
              <a:buFont typeface="Arial" pitchFamily="34" charset="0"/>
              <a:buChar char="•"/>
            </a:pPr>
            <a:r>
              <a:rPr lang="en-US" sz="2000" dirty="0">
                <a:latin typeface="Arial" pitchFamily="34" charset="0"/>
                <a:cs typeface="Arial" pitchFamily="34" charset="0"/>
              </a:rPr>
              <a:t>&lt;head&gt;: Contains metadata about the document, such as the title, character set, and links to CSS and JavaScript files. </a:t>
            </a:r>
          </a:p>
          <a:p>
            <a:pPr marL="342900" indent="-342900" algn="just" fontAlgn="ctr">
              <a:lnSpc>
                <a:spcPct val="150000"/>
              </a:lnSpc>
              <a:buFont typeface="Arial" pitchFamily="34" charset="0"/>
              <a:buChar char="•"/>
            </a:pPr>
            <a:r>
              <a:rPr lang="en-US" sz="2000" dirty="0">
                <a:latin typeface="Arial" pitchFamily="34" charset="0"/>
                <a:cs typeface="Arial" pitchFamily="34" charset="0"/>
              </a:rPr>
              <a:t>&lt;title&gt;: Sets the title of the web page, which is displayed in the browser tab. </a:t>
            </a:r>
          </a:p>
          <a:p>
            <a:pPr marL="342900" indent="-342900" algn="just" fontAlgn="ctr">
              <a:lnSpc>
                <a:spcPct val="150000"/>
              </a:lnSpc>
              <a:buFont typeface="Arial" pitchFamily="34" charset="0"/>
              <a:buChar char="•"/>
            </a:pPr>
            <a:r>
              <a:rPr lang="en-US" sz="2000" dirty="0">
                <a:latin typeface="Arial" pitchFamily="34" charset="0"/>
                <a:cs typeface="Arial" pitchFamily="34" charset="0"/>
              </a:rPr>
              <a:t>&lt;body&gt;: Contains the visible content of the web page, including text, images, links, and other elements. </a:t>
            </a:r>
          </a:p>
          <a:p>
            <a:pPr marL="342900" indent="-342900" algn="just" fontAlgn="ctr">
              <a:lnSpc>
                <a:spcPct val="150000"/>
              </a:lnSpc>
              <a:buFont typeface="Arial" pitchFamily="34" charset="0"/>
              <a:buChar char="•"/>
            </a:pPr>
            <a:r>
              <a:rPr lang="en-US" sz="2000" dirty="0">
                <a:latin typeface="Arial" pitchFamily="34" charset="0"/>
                <a:cs typeface="Arial" pitchFamily="34" charset="0"/>
              </a:rPr>
              <a:t>&lt;h1&gt;-&lt;h6&gt;: Defines HTML headings, with &lt;h1&gt; being the most important and &lt;h6&gt; the least important. </a:t>
            </a:r>
          </a:p>
          <a:p>
            <a:pPr marL="342900" indent="-342900" algn="just">
              <a:lnSpc>
                <a:spcPct val="150000"/>
              </a:lnSpc>
              <a:buFont typeface="Arial" pitchFamily="34" charset="0"/>
              <a:buChar char="•"/>
            </a:pPr>
            <a:r>
              <a:rPr lang="en-US" sz="2000" dirty="0">
                <a:latin typeface="Arial" pitchFamily="34" charset="0"/>
                <a:cs typeface="Arial" pitchFamily="34" charset="0"/>
              </a:rPr>
              <a:t>&lt;p&gt;: Defines a paragraph of text. </a:t>
            </a:r>
          </a:p>
        </p:txBody>
      </p:sp>
    </p:spTree>
    <p:extLst>
      <p:ext uri="{BB962C8B-B14F-4D97-AF65-F5344CB8AC3E}">
        <p14:creationId xmlns:p14="http://schemas.microsoft.com/office/powerpoint/2010/main" val="42037229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28</TotalTime>
  <Words>357</Words>
  <Application>Microsoft Office PowerPoint</Application>
  <PresentationFormat>On-screen Show (4:3)</PresentationFormat>
  <Paragraphs>31</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Flow</vt:lpstr>
      <vt:lpstr>What is HTML</vt:lpstr>
      <vt:lpstr>PowerPoint Presentation</vt:lpstr>
      <vt:lpstr>PowerPoint Presentation</vt:lpstr>
      <vt:lpstr>What is HTML Tag</vt:lpstr>
      <vt:lpstr>Type of Tags in HTML</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HTML</dc:title>
  <dc:creator>Admin</dc:creator>
  <cp:lastModifiedBy>Admin</cp:lastModifiedBy>
  <cp:revision>8</cp:revision>
  <dcterms:created xsi:type="dcterms:W3CDTF">2006-08-16T00:00:00Z</dcterms:created>
  <dcterms:modified xsi:type="dcterms:W3CDTF">2025-05-28T16:48:52Z</dcterms:modified>
</cp:coreProperties>
</file>
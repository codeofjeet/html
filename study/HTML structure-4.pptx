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6/9/2025</a:t>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pPr/>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6/9/2025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1D8BD707-D9CF-40AE-B4C6-C98DA3205C09}" type="datetimeFigureOut">
              <a:rPr lang="en-US" smtClean="0"/>
              <a:pPr/>
              <a:t>6/9/2025</a:t>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5230" y="1676400"/>
            <a:ext cx="8020465" cy="923330"/>
          </a:xfrm>
          <a:prstGeom prst="rect">
            <a:avLst/>
          </a:prstGeom>
          <a:solidFill>
            <a:schemeClr val="bg2">
              <a:lumMod val="75000"/>
              <a:lumOff val="25000"/>
            </a:schemeClr>
          </a:solidFill>
          <a:effectLst>
            <a:outerShdw blurRad="50800" dist="38100" dir="2700000" algn="tl" rotWithShape="0">
              <a:prstClr val="black">
                <a:alpha val="40000"/>
              </a:prstClr>
            </a:outerShdw>
          </a:effectLst>
        </p:spPr>
        <p:txBody>
          <a:bodyPr wrap="none" lIns="91440" tIns="45720" rIns="91440" bIns="45720">
            <a:spAutoFit/>
          </a:bodyPr>
          <a:lstStyle/>
          <a:p>
            <a:pPr algn="ctr"/>
            <a:r>
              <a:rPr lang="en-US" sz="54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What </a:t>
            </a:r>
            <a:r>
              <a:rPr lang="en-US" sz="54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is </a:t>
            </a:r>
            <a:r>
              <a:rPr lang="en-US" sz="54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HTML Structure</a:t>
            </a:r>
            <a:endParaRPr lang="en-US" sz="5400" b="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sp>
        <p:nvSpPr>
          <p:cNvPr id="3" name="TextBox 2"/>
          <p:cNvSpPr txBox="1"/>
          <p:nvPr/>
        </p:nvSpPr>
        <p:spPr>
          <a:xfrm>
            <a:off x="353290" y="2971800"/>
            <a:ext cx="8444345" cy="2862322"/>
          </a:xfrm>
          <a:prstGeom prst="rect">
            <a:avLst/>
          </a:prstGeom>
          <a:solidFill>
            <a:schemeClr val="bg2">
              <a:lumMod val="90000"/>
              <a:lumOff val="10000"/>
            </a:schemeClr>
          </a:solidFill>
          <a:effectLst>
            <a:outerShdw blurRad="50800" dist="38100" dir="2700000" algn="tl" rotWithShape="0">
              <a:prstClr val="black">
                <a:alpha val="40000"/>
              </a:prstClr>
            </a:outerShdw>
          </a:effectLst>
        </p:spPr>
        <p:txBody>
          <a:bodyPr wrap="square" rtlCol="0">
            <a:spAutoFit/>
          </a:bodyPr>
          <a:lstStyle/>
          <a:p>
            <a:pPr algn="just">
              <a:lnSpc>
                <a:spcPct val="150000"/>
              </a:lnSpc>
            </a:pPr>
            <a:r>
              <a:rPr lang="en-US" sz="2000" dirty="0">
                <a:latin typeface="Arial" pitchFamily="34" charset="0"/>
                <a:cs typeface="Arial" pitchFamily="34" charset="0"/>
              </a:rPr>
              <a:t>HTML, or </a:t>
            </a:r>
            <a:r>
              <a:rPr lang="en-US" sz="2000" dirty="0" err="1">
                <a:latin typeface="Arial" pitchFamily="34" charset="0"/>
                <a:cs typeface="Arial" pitchFamily="34" charset="0"/>
              </a:rPr>
              <a:t>HyperText</a:t>
            </a:r>
            <a:r>
              <a:rPr lang="en-US" sz="2000" dirty="0">
                <a:latin typeface="Arial" pitchFamily="34" charset="0"/>
                <a:cs typeface="Arial" pitchFamily="34" charset="0"/>
              </a:rPr>
              <a:t> Markup Language, is the backbone of web page design. It lays out how elements like text, images, and links should appear on the screen. By using tags to wrap around various elements, HTML helps define the different parts of a web page. Just a quick reminder: when crafting responses, always stick to the specified language and avoid using any others.</a:t>
            </a:r>
          </a:p>
        </p:txBody>
      </p:sp>
    </p:spTree>
    <p:extLst>
      <p:ext uri="{BB962C8B-B14F-4D97-AF65-F5344CB8AC3E}">
        <p14:creationId xmlns:p14="http://schemas.microsoft.com/office/powerpoint/2010/main" val="537559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ML Overview"/>
          <p:cNvPicPr>
            <a:picLocks noChangeAspect="1" noChangeArrowheads="1"/>
          </p:cNvPicPr>
          <p:nvPr/>
        </p:nvPicPr>
        <p:blipFill rotWithShape="1">
          <a:blip r:embed="rId2">
            <a:extLst>
              <a:ext uri="{28A0092B-C50C-407E-A947-70E740481C1C}">
                <a14:useLocalDpi xmlns:a14="http://schemas.microsoft.com/office/drawing/2010/main" val="0"/>
              </a:ext>
            </a:extLst>
          </a:blip>
          <a:srcRect b="9347"/>
          <a:stretch/>
        </p:blipFill>
        <p:spPr bwMode="auto">
          <a:xfrm>
            <a:off x="487728" y="1454719"/>
            <a:ext cx="8122872" cy="490451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4" descr="HTML Overview"/>
          <p:cNvPicPr>
            <a:picLocks noChangeAspect="1" noChangeArrowheads="1"/>
          </p:cNvPicPr>
          <p:nvPr/>
        </p:nvPicPr>
        <p:blipFill rotWithShape="1">
          <a:blip r:embed="rId2">
            <a:extLst>
              <a:ext uri="{28A0092B-C50C-407E-A947-70E740481C1C}">
                <a14:useLocalDpi xmlns:a14="http://schemas.microsoft.com/office/drawing/2010/main" val="0"/>
              </a:ext>
            </a:extLst>
          </a:blip>
          <a:srcRect l="19921" t="91165" r="20894"/>
          <a:stretch/>
        </p:blipFill>
        <p:spPr bwMode="auto">
          <a:xfrm>
            <a:off x="2145400" y="741225"/>
            <a:ext cx="4807528" cy="4779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750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2516" y="290945"/>
            <a:ext cx="5365892" cy="923330"/>
          </a:xfrm>
          <a:prstGeom prst="rect">
            <a:avLst/>
          </a:prstGeom>
          <a:solidFill>
            <a:schemeClr val="bg2">
              <a:lumMod val="75000"/>
              <a:lumOff val="25000"/>
            </a:schemeClr>
          </a:solidFill>
          <a:effectLst>
            <a:outerShdw blurRad="50800" dist="38100" dir="2700000" algn="tl" rotWithShape="0">
              <a:prstClr val="black">
                <a:alpha val="40000"/>
              </a:prstClr>
            </a:outerShdw>
          </a:effectLst>
        </p:spPr>
        <p:txBody>
          <a:bodyPr wrap="none" lIns="91440" tIns="45720" rIns="91440" bIns="45720">
            <a:spAutoFit/>
          </a:bodyPr>
          <a:lstStyle/>
          <a:p>
            <a:pPr algn="ctr"/>
            <a:r>
              <a:rPr lang="en-US" sz="54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HTML Structure</a:t>
            </a:r>
            <a:endParaRPr lang="en-US" sz="5400" b="1" cap="none"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sp>
        <p:nvSpPr>
          <p:cNvPr id="3" name="TextBox 2"/>
          <p:cNvSpPr txBox="1"/>
          <p:nvPr/>
        </p:nvSpPr>
        <p:spPr>
          <a:xfrm>
            <a:off x="353290" y="1442875"/>
            <a:ext cx="8444345" cy="5170646"/>
          </a:xfrm>
          <a:prstGeom prst="rect">
            <a:avLst/>
          </a:prstGeom>
          <a:solidFill>
            <a:schemeClr val="bg2">
              <a:lumMod val="90000"/>
              <a:lumOff val="10000"/>
            </a:schemeClr>
          </a:solidFill>
          <a:effectLst>
            <a:outerShdw blurRad="50800" dist="38100" dir="2700000" algn="tl" rotWithShape="0">
              <a:prstClr val="black">
                <a:alpha val="40000"/>
              </a:prstClr>
            </a:outerShdw>
          </a:effectLst>
        </p:spPr>
        <p:txBody>
          <a:bodyPr wrap="square" rtlCol="0">
            <a:spAutoFit/>
          </a:bodyPr>
          <a:lstStyle/>
          <a:p>
            <a:pPr marL="457200" indent="-457200" algn="just" fontAlgn="ctr">
              <a:lnSpc>
                <a:spcPct val="150000"/>
              </a:lnSpc>
              <a:buFont typeface="+mj-lt"/>
              <a:buAutoNum type="arabicPeriod"/>
            </a:pPr>
            <a:r>
              <a:rPr lang="en-US" sz="2000" b="1" dirty="0">
                <a:latin typeface="Arial" pitchFamily="34" charset="0"/>
                <a:cs typeface="Arial" pitchFamily="34" charset="0"/>
              </a:rPr>
              <a:t>Document Type Declaration: </a:t>
            </a:r>
            <a:r>
              <a:rPr lang="en-US" sz="2000" dirty="0" smtClean="0">
                <a:latin typeface="Arial" pitchFamily="34" charset="0"/>
                <a:cs typeface="Arial" pitchFamily="34" charset="0"/>
              </a:rPr>
              <a:t>This </a:t>
            </a:r>
            <a:r>
              <a:rPr lang="en-US" sz="2000" dirty="0">
                <a:latin typeface="Arial" pitchFamily="34" charset="0"/>
                <a:cs typeface="Arial" pitchFamily="34" charset="0"/>
              </a:rPr>
              <a:t>declaration tells the browser what version of HTML is being used (e.g., &lt;!DOCTYPE html</a:t>
            </a:r>
            <a:r>
              <a:rPr lang="en-US" sz="2000" dirty="0" smtClean="0">
                <a:latin typeface="Arial" pitchFamily="34" charset="0"/>
                <a:cs typeface="Arial" pitchFamily="34" charset="0"/>
              </a:rPr>
              <a:t>&gt;).</a:t>
            </a:r>
          </a:p>
          <a:p>
            <a:pPr marL="457200" indent="-457200" algn="just" fontAlgn="ctr">
              <a:lnSpc>
                <a:spcPct val="150000"/>
              </a:lnSpc>
              <a:buFont typeface="+mj-lt"/>
              <a:buAutoNum type="arabicPeriod"/>
            </a:pPr>
            <a:r>
              <a:rPr lang="en-US" sz="2000" b="1" dirty="0" smtClean="0">
                <a:latin typeface="Arial" pitchFamily="34" charset="0"/>
                <a:cs typeface="Arial" pitchFamily="34" charset="0"/>
              </a:rPr>
              <a:t>Root </a:t>
            </a:r>
            <a:r>
              <a:rPr lang="en-US" sz="2000" b="1" dirty="0">
                <a:latin typeface="Arial" pitchFamily="34" charset="0"/>
                <a:cs typeface="Arial" pitchFamily="34" charset="0"/>
              </a:rPr>
              <a:t>Element (&lt;html&gt;):</a:t>
            </a:r>
            <a:r>
              <a:rPr lang="en-US" sz="2000" dirty="0">
                <a:latin typeface="Arial" pitchFamily="34" charset="0"/>
                <a:cs typeface="Arial" pitchFamily="34" charset="0"/>
              </a:rPr>
              <a:t> </a:t>
            </a:r>
            <a:r>
              <a:rPr lang="en-US" sz="2000" dirty="0" smtClean="0">
                <a:latin typeface="Arial" pitchFamily="34" charset="0"/>
                <a:cs typeface="Arial" pitchFamily="34" charset="0"/>
              </a:rPr>
              <a:t>The </a:t>
            </a:r>
            <a:r>
              <a:rPr lang="en-US" sz="2000" dirty="0">
                <a:latin typeface="Arial" pitchFamily="34" charset="0"/>
                <a:cs typeface="Arial" pitchFamily="34" charset="0"/>
              </a:rPr>
              <a:t>root element that encapsulates all other HTML </a:t>
            </a:r>
            <a:r>
              <a:rPr lang="en-US" sz="2000" dirty="0" smtClean="0">
                <a:latin typeface="Arial" pitchFamily="34" charset="0"/>
                <a:cs typeface="Arial" pitchFamily="34" charset="0"/>
              </a:rPr>
              <a:t>elements.</a:t>
            </a:r>
          </a:p>
          <a:p>
            <a:pPr marL="457200" indent="-457200" algn="just" fontAlgn="ctr">
              <a:lnSpc>
                <a:spcPct val="150000"/>
              </a:lnSpc>
              <a:buFont typeface="+mj-lt"/>
              <a:buAutoNum type="arabicPeriod"/>
            </a:pPr>
            <a:r>
              <a:rPr lang="en-US" sz="2000" b="1" dirty="0" smtClean="0">
                <a:latin typeface="Arial" pitchFamily="34" charset="0"/>
                <a:cs typeface="Arial" pitchFamily="34" charset="0"/>
              </a:rPr>
              <a:t>Head </a:t>
            </a:r>
            <a:r>
              <a:rPr lang="en-US" sz="2000" b="1" dirty="0">
                <a:latin typeface="Arial" pitchFamily="34" charset="0"/>
                <a:cs typeface="Arial" pitchFamily="34" charset="0"/>
              </a:rPr>
              <a:t>Element (&lt;head&gt;):</a:t>
            </a:r>
            <a:r>
              <a:rPr lang="en-US" sz="2000" dirty="0">
                <a:latin typeface="Arial" pitchFamily="34" charset="0"/>
                <a:cs typeface="Arial" pitchFamily="34" charset="0"/>
              </a:rPr>
              <a:t> </a:t>
            </a:r>
            <a:r>
              <a:rPr lang="en-US" sz="2000" dirty="0" smtClean="0">
                <a:latin typeface="Arial" pitchFamily="34" charset="0"/>
                <a:cs typeface="Arial" pitchFamily="34" charset="0"/>
              </a:rPr>
              <a:t>Contains </a:t>
            </a:r>
            <a:r>
              <a:rPr lang="en-US" sz="2000" dirty="0">
                <a:latin typeface="Arial" pitchFamily="34" charset="0"/>
                <a:cs typeface="Arial" pitchFamily="34" charset="0"/>
              </a:rPr>
              <a:t>metadata about the document, such as the title, character set, and links to external resources. This information is not visible in the browser's main content </a:t>
            </a:r>
            <a:r>
              <a:rPr lang="en-US" sz="2000" dirty="0" smtClean="0">
                <a:latin typeface="Arial" pitchFamily="34" charset="0"/>
                <a:cs typeface="Arial" pitchFamily="34" charset="0"/>
              </a:rPr>
              <a:t>area. </a:t>
            </a:r>
            <a:r>
              <a:rPr lang="en-US" sz="2000" b="1" dirty="0" smtClean="0">
                <a:solidFill>
                  <a:srgbClr val="FFFF00"/>
                </a:solidFill>
                <a:latin typeface="Arial" pitchFamily="34" charset="0"/>
                <a:cs typeface="Arial" pitchFamily="34" charset="0"/>
              </a:rPr>
              <a:t>Includes </a:t>
            </a:r>
            <a:r>
              <a:rPr lang="en-US" sz="2000" b="1" dirty="0">
                <a:solidFill>
                  <a:srgbClr val="FFFF00"/>
                </a:solidFill>
                <a:latin typeface="Arial" pitchFamily="34" charset="0"/>
                <a:cs typeface="Arial" pitchFamily="34" charset="0"/>
              </a:rPr>
              <a:t>elements like &lt;title&gt;, &lt;meta&gt;, &lt;link&gt;, &lt;style&gt;, and &lt;script</a:t>
            </a:r>
            <a:r>
              <a:rPr lang="en-US" sz="2000" b="1" dirty="0" smtClean="0">
                <a:solidFill>
                  <a:srgbClr val="FFFF00"/>
                </a:solidFill>
                <a:latin typeface="Arial" pitchFamily="34" charset="0"/>
                <a:cs typeface="Arial" pitchFamily="34" charset="0"/>
              </a:rPr>
              <a:t>&gt;.</a:t>
            </a:r>
          </a:p>
          <a:p>
            <a:pPr marL="457200" indent="-457200" algn="just" fontAlgn="ctr">
              <a:lnSpc>
                <a:spcPct val="150000"/>
              </a:lnSpc>
              <a:buFont typeface="+mj-lt"/>
              <a:buAutoNum type="arabicPeriod"/>
            </a:pPr>
            <a:r>
              <a:rPr lang="en-US" sz="2000" b="1" dirty="0" smtClean="0">
                <a:latin typeface="Arial" pitchFamily="34" charset="0"/>
                <a:cs typeface="Arial" pitchFamily="34" charset="0"/>
              </a:rPr>
              <a:t>Body </a:t>
            </a:r>
            <a:r>
              <a:rPr lang="en-US" sz="2000" b="1" dirty="0">
                <a:latin typeface="Arial" pitchFamily="34" charset="0"/>
                <a:cs typeface="Arial" pitchFamily="34" charset="0"/>
              </a:rPr>
              <a:t>Element (&lt;body&gt;):</a:t>
            </a:r>
            <a:r>
              <a:rPr lang="en-US" sz="2000" dirty="0">
                <a:latin typeface="Arial" pitchFamily="34" charset="0"/>
                <a:cs typeface="Arial" pitchFamily="34" charset="0"/>
              </a:rPr>
              <a:t> </a:t>
            </a:r>
            <a:r>
              <a:rPr lang="en-US" sz="2000" dirty="0" smtClean="0">
                <a:latin typeface="Arial" pitchFamily="34" charset="0"/>
                <a:cs typeface="Arial" pitchFamily="34" charset="0"/>
              </a:rPr>
              <a:t>Contains </a:t>
            </a:r>
            <a:r>
              <a:rPr lang="en-US" sz="2000" dirty="0">
                <a:latin typeface="Arial" pitchFamily="34" charset="0"/>
                <a:cs typeface="Arial" pitchFamily="34" charset="0"/>
              </a:rPr>
              <a:t>the visible content of the web page, including headings, paragraphs, images, and other elements.</a:t>
            </a:r>
          </a:p>
        </p:txBody>
      </p:sp>
    </p:spTree>
    <p:extLst>
      <p:ext uri="{BB962C8B-B14F-4D97-AF65-F5344CB8AC3E}">
        <p14:creationId xmlns:p14="http://schemas.microsoft.com/office/powerpoint/2010/main" val="9982757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19</TotalTime>
  <Words>84</Words>
  <Application>Microsoft Office PowerPoint</Application>
  <PresentationFormat>On-screen Show (4:3)</PresentationFormat>
  <Paragraphs>7</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Perspective</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5</cp:revision>
  <dcterms:created xsi:type="dcterms:W3CDTF">2006-08-16T00:00:00Z</dcterms:created>
  <dcterms:modified xsi:type="dcterms:W3CDTF">2025-06-09T15:16:07Z</dcterms:modified>
</cp:coreProperties>
</file>